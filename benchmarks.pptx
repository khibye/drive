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6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00A28-8A2E-43F0-9B55-A9B6285D93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D9F352-809B-4ED3-9A11-6140FE7FD6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17FBE-8730-4F6B-A941-DE4D00DB2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99426-3C3D-4C2E-993B-9014FC2B1BC6}" type="datetimeFigureOut">
              <a:rPr lang="he-IL" smtClean="0"/>
              <a:t>כ"ו/ניסן/תשפ"ו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186292-7BC4-49DE-AD9B-E46DC941C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ECE78-5D77-41B1-9E8B-FBDCF80ED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8CF7-CC4F-4B7F-9050-87444EE72FF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1221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113C2-01A6-422B-84EB-811ADC746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7B1C3-5226-4E12-BC65-B5EBB10E73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4A2420-2C9B-4B04-8BAA-5C64BCAB8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99426-3C3D-4C2E-993B-9014FC2B1BC6}" type="datetimeFigureOut">
              <a:rPr lang="he-IL" smtClean="0"/>
              <a:t>כ"ו/ניסן/תשפ"ו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FE219E-B14E-4AB1-B2BC-56633FD10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328E1-23C6-4057-A730-CBD44EBC2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8CF7-CC4F-4B7F-9050-87444EE72FF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97399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D03E0-732F-4B61-ADC5-BE24F58A6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3EBDF9-D306-4504-B5FF-A8DF3BCD11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6C11B2-7A34-4170-9142-4C85557EC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99426-3C3D-4C2E-993B-9014FC2B1BC6}" type="datetimeFigureOut">
              <a:rPr lang="he-IL" smtClean="0"/>
              <a:t>כ"ו/ניסן/תשפ"ו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418E2-FD88-4A9C-939D-32FEDDDDC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520F43-BA31-461E-B1F6-A255B8707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8CF7-CC4F-4B7F-9050-87444EE72FF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21018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0A0F6-0181-48B5-B7E7-31356080C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055D2-BEB8-4A0B-9D38-9A4DAA7C63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6B6F9A-6565-4AA7-B203-D1A4D971BF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3F355F-E8FC-4169-818E-B1503ED13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99426-3C3D-4C2E-993B-9014FC2B1BC6}" type="datetimeFigureOut">
              <a:rPr lang="he-IL" smtClean="0"/>
              <a:t>כ"ו/ניסן/תשפ"ו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91D445-D9CE-40B4-AB28-4F6C07615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311BE3-4D47-4883-A95B-4A283568B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8CF7-CC4F-4B7F-9050-87444EE72FF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99920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54909-97F6-4F8C-B1ED-4A600BD41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F1A67F-BCE7-413E-AE77-4D136CE57C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4B14D3-AED7-4A2C-B1EE-93DD3AE45E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19988-FEF6-4990-ADE2-3B05D09EF5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63C751-C1A0-422D-94A9-0C6960AE1E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D72E5D-4C1A-4224-AF65-0ACC64FFE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99426-3C3D-4C2E-993B-9014FC2B1BC6}" type="datetimeFigureOut">
              <a:rPr lang="he-IL" smtClean="0"/>
              <a:t>כ"ו/ניסן/תשפ"ו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E95020-18FC-4948-A3E6-7643191E2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D16C07-BC41-49F9-8439-240769C38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8CF7-CC4F-4B7F-9050-87444EE72FF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6740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3381D-35CE-4507-AE8C-1EAF0BD74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20D6BB-3CE9-4A13-8F19-1067BC25E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99426-3C3D-4C2E-993B-9014FC2B1BC6}" type="datetimeFigureOut">
              <a:rPr lang="he-IL" smtClean="0"/>
              <a:t>כ"ו/ניסן/תשפ"ו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79F04-4EC0-4D2A-95DC-59C7FA46D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E4D371-FD40-4ED2-8551-E97AACD18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8CF7-CC4F-4B7F-9050-87444EE72FF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708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988BC1-468C-47C7-8178-C4A47FF9A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99426-3C3D-4C2E-993B-9014FC2B1BC6}" type="datetimeFigureOut">
              <a:rPr lang="he-IL" smtClean="0"/>
              <a:t>כ"ו/ניסן/תשפ"ו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A3C0A7-ABDB-436F-AAF3-0995A4731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1D189C-5D25-42DF-A6A8-CCBE901F3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8CF7-CC4F-4B7F-9050-87444EE72FF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9731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EA813-3AF9-437F-B136-7FEB06397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15CC7-C895-4CA0-9EBE-CE588C1B9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BEA7B0-583B-4938-AD28-AEA9F3228F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52512D-B4A3-4D71-B9AE-08F4902D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99426-3C3D-4C2E-993B-9014FC2B1BC6}" type="datetimeFigureOut">
              <a:rPr lang="he-IL" smtClean="0"/>
              <a:t>כ"ו/ניסן/תשפ"ו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7C59FD-26E0-41B6-8E57-A2E67349F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A9709A-42AF-41DA-BE0C-359F953F2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8CF7-CC4F-4B7F-9050-87444EE72FF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80197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77DFB-22A6-41F6-82A1-2FBF3980B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202511-25C1-4B75-9568-9EF0C2B558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47CA03-51DB-44FC-A1C8-C5640140D0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57A5CD-028B-4445-8760-4048A65A8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99426-3C3D-4C2E-993B-9014FC2B1BC6}" type="datetimeFigureOut">
              <a:rPr lang="he-IL" smtClean="0"/>
              <a:t>כ"ו/ניסן/תשפ"ו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28F25D-C12C-44DD-BFAA-ABE6FC238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9949B3-EC79-4E9E-ADA4-A6E266B54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8CF7-CC4F-4B7F-9050-87444EE72FF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63252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5E652-8BB2-4B4C-8F4D-EAA0CC667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1038E2-78A0-444B-B222-1449EE7E86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5800FD-CB83-4045-BBB4-696E4343D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99426-3C3D-4C2E-993B-9014FC2B1BC6}" type="datetimeFigureOut">
              <a:rPr lang="he-IL" smtClean="0"/>
              <a:t>כ"ו/ניסן/תשפ"ו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3A62B-6D71-4089-9046-C90E1A3B9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4ABCA2-AEC0-443A-84E0-B4F0E77F3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8CF7-CC4F-4B7F-9050-87444EE72FF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65211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6E27DA-13E3-43B1-893C-0C431BD31A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E01628-AA0A-4AE2-959D-B8F2D0238B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710B9D-3A94-469A-81FD-2E61B451B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99426-3C3D-4C2E-993B-9014FC2B1BC6}" type="datetimeFigureOut">
              <a:rPr lang="he-IL" smtClean="0"/>
              <a:t>כ"ו/ניסן/תשפ"ו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DC5A3-ECBC-4F3F-8DE7-91452B820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825B29-37C8-470F-9A21-945B6CBF7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18CF7-CC4F-4B7F-9050-87444EE72FF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350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863D60-B867-45D9-9FD7-1325C09A1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356AA-1B39-45D9-8B1B-52B330C1B5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69FB2-4901-43B2-A675-9A794BFF28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999426-3C3D-4C2E-993B-9014FC2B1BC6}" type="datetimeFigureOut">
              <a:rPr lang="he-IL" smtClean="0"/>
              <a:t>כ"ו/ניסן/תשפ"ו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9CF25F-2BFD-4A5C-AC6F-30EE05FE21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914C53-B424-48E7-BD7C-449A8D18B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218CF7-CC4F-4B7F-9050-87444EE72FF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25453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E665A-1B97-494D-B60A-B07F4348F4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7200" b="1" dirty="0">
                <a:effectLst/>
                <a:latin typeface="Heebo" pitchFamily="2" charset="-79"/>
                <a:ea typeface="Calibri" panose="020F0502020204030204" pitchFamily="34" charset="0"/>
                <a:cs typeface="Heebo" pitchFamily="2" charset="-79"/>
              </a:rPr>
              <a:t>BENCHMARKS</a:t>
            </a:r>
            <a:endParaRPr lang="he-IL" dirty="0">
              <a:latin typeface="Heebo" pitchFamily="2" charset="-79"/>
              <a:cs typeface="Heebo" pitchFamily="2" charset="-79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EB3102-F852-4EB7-A3A3-B7825DFA5D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91922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3857E-EE1D-469B-8C88-040191D32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>
                <a:effectLst/>
                <a:latin typeface="Heebo" pitchFamily="2" charset="-79"/>
                <a:ea typeface="Calibri" panose="020F0502020204030204" pitchFamily="34" charset="0"/>
                <a:cs typeface="Heebo" pitchFamily="2" charset="-79"/>
              </a:rPr>
              <a:t>ArenaHard</a:t>
            </a:r>
            <a:endParaRPr lang="he-IL" sz="8800" dirty="0">
              <a:latin typeface="Heebo" pitchFamily="2" charset="-79"/>
              <a:cs typeface="Heebo" pitchFamily="2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A6172-1E11-4058-AFEC-8BDE2164A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r">
              <a:buNone/>
            </a:pPr>
            <a:r>
              <a:rPr lang="he-IL" sz="1600" b="1" dirty="0">
                <a:latin typeface="Assistant" pitchFamily="2" charset="-79"/>
                <a:cs typeface="Assistant" pitchFamily="2" charset="-79"/>
              </a:rPr>
              <a:t>מה המבחן מכיל?</a:t>
            </a:r>
          </a:p>
          <a:p>
            <a:pPr algn="r" rtl="1"/>
            <a:r>
              <a:rPr lang="he-IL" sz="1600" dirty="0">
                <a:latin typeface="Assistant" pitchFamily="2" charset="-79"/>
                <a:cs typeface="Assistant" pitchFamily="2" charset="-79"/>
              </a:rPr>
              <a:t>שאלות לוגיות מורכבות </a:t>
            </a:r>
          </a:p>
          <a:p>
            <a:pPr algn="r" rtl="1"/>
            <a:r>
              <a:rPr lang="he-IL" sz="1600" dirty="0">
                <a:latin typeface="Assistant" pitchFamily="2" charset="-79"/>
                <a:cs typeface="Assistant" pitchFamily="2" charset="-79"/>
              </a:rPr>
              <a:t>בעיות מתמטיות קשות </a:t>
            </a:r>
          </a:p>
          <a:p>
            <a:pPr algn="r" rtl="1"/>
            <a:r>
              <a:rPr lang="he-IL" sz="1600" dirty="0">
                <a:latin typeface="Assistant" pitchFamily="2" charset="-79"/>
                <a:cs typeface="Assistant" pitchFamily="2" charset="-79"/>
              </a:rPr>
              <a:t>משימות של הבנת טקסט ברמה גבוהה </a:t>
            </a:r>
          </a:p>
          <a:p>
            <a:pPr algn="r" rtl="1"/>
            <a:r>
              <a:rPr lang="he-IL" sz="1600" dirty="0">
                <a:latin typeface="Assistant" pitchFamily="2" charset="-79"/>
                <a:cs typeface="Assistant" pitchFamily="2" charset="-79"/>
              </a:rPr>
              <a:t>שאלות יצירתיות או רב-שלביות </a:t>
            </a:r>
          </a:p>
          <a:p>
            <a:pPr algn="r" rtl="1"/>
            <a:r>
              <a:rPr lang="he-IL" sz="1600" dirty="0">
                <a:latin typeface="Assistant" pitchFamily="2" charset="-79"/>
                <a:cs typeface="Assistant" pitchFamily="2" charset="-79"/>
              </a:rPr>
              <a:t>מצבים שבהם צריך להסביר, לנמק או להשוות </a:t>
            </a:r>
          </a:p>
          <a:p>
            <a:pPr marL="0" indent="0" algn="r">
              <a:buNone/>
            </a:pPr>
            <a:r>
              <a:rPr lang="he-IL" sz="1600" b="1" dirty="0">
                <a:latin typeface="Assistant" pitchFamily="2" charset="-79"/>
                <a:cs typeface="Assistant" pitchFamily="2" charset="-79"/>
              </a:rPr>
              <a:t>איך מודדים ביצועים?</a:t>
            </a:r>
          </a:p>
          <a:p>
            <a:pPr marL="0" indent="0" algn="r">
              <a:buNone/>
            </a:pPr>
            <a:r>
              <a:rPr lang="he-IL" sz="1600" dirty="0">
                <a:latin typeface="Assistant" pitchFamily="2" charset="-79"/>
                <a:cs typeface="Assistant" pitchFamily="2" charset="-79"/>
              </a:rPr>
              <a:t>במקום רק לבדוק “נכון/לא נכון”, משתמשים לעיתים קרובות ב:</a:t>
            </a:r>
          </a:p>
          <a:p>
            <a:pPr algn="r" rtl="1"/>
            <a:r>
              <a:rPr lang="he-IL" sz="1600" dirty="0">
                <a:latin typeface="Assistant" pitchFamily="2" charset="-79"/>
                <a:cs typeface="Assistant" pitchFamily="2" charset="-79"/>
              </a:rPr>
              <a:t>השוואה בין תשובות של כמה מודלים </a:t>
            </a:r>
          </a:p>
          <a:p>
            <a:pPr algn="r" rtl="1"/>
            <a:r>
              <a:rPr lang="he-IL" sz="1600" dirty="0">
                <a:latin typeface="Assistant" pitchFamily="2" charset="-79"/>
                <a:cs typeface="Assistant" pitchFamily="2" charset="-79"/>
              </a:rPr>
              <a:t>דירוגים של בני אדם או מודלים אחרים </a:t>
            </a:r>
          </a:p>
          <a:p>
            <a:pPr algn="r" rtl="1"/>
            <a:r>
              <a:rPr lang="he-IL" sz="1600" dirty="0">
                <a:latin typeface="Assistant" pitchFamily="2" charset="-79"/>
                <a:cs typeface="Assistant" pitchFamily="2" charset="-79"/>
              </a:rPr>
              <a:t>בדיקה איזה מודל נותן תשובה יותר מועילה, מדויקת וברורה </a:t>
            </a:r>
          </a:p>
          <a:p>
            <a:pPr marL="0" indent="0" algn="r" rtl="1">
              <a:buNone/>
            </a:pPr>
            <a:r>
              <a:rPr lang="he-IL" sz="1600" b="1" dirty="0">
                <a:latin typeface="Assistant" pitchFamily="2" charset="-79"/>
                <a:cs typeface="Assistant" pitchFamily="2" charset="-79"/>
              </a:rPr>
              <a:t>מה המבחן מבטא?</a:t>
            </a:r>
          </a:p>
          <a:p>
            <a:pPr marL="0" indent="0" algn="r" rtl="1">
              <a:buNone/>
            </a:pPr>
            <a:r>
              <a:rPr lang="he-IL" sz="1600" dirty="0">
                <a:latin typeface="Assistant" pitchFamily="2" charset="-79"/>
                <a:cs typeface="Assistant" pitchFamily="2" charset="-79"/>
              </a:rPr>
              <a:t>יכולת כללית להתמודד עם הוראות מורכבות ולא מובנות מאליהן</a:t>
            </a:r>
          </a:p>
        </p:txBody>
      </p:sp>
    </p:spTree>
    <p:extLst>
      <p:ext uri="{BB962C8B-B14F-4D97-AF65-F5344CB8AC3E}">
        <p14:creationId xmlns:p14="http://schemas.microsoft.com/office/powerpoint/2010/main" val="964628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3857E-EE1D-469B-8C88-040191D32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effectLst/>
                <a:latin typeface="Heebo" pitchFamily="2" charset="-79"/>
                <a:ea typeface="Calibri" panose="020F0502020204030204" pitchFamily="34" charset="0"/>
                <a:cs typeface="Heebo" pitchFamily="2" charset="-79"/>
              </a:rPr>
              <a:t>AIME'24 &amp; AIME'25</a:t>
            </a:r>
            <a:endParaRPr lang="he-IL" sz="4000" dirty="0">
              <a:latin typeface="Heebo" pitchFamily="2" charset="-79"/>
              <a:cs typeface="Heebo" pitchFamily="2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A6172-1E11-4058-AFEC-8BDE2164A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295" y="1825625"/>
            <a:ext cx="11241505" cy="4351338"/>
          </a:xfrm>
        </p:spPr>
        <p:txBody>
          <a:bodyPr>
            <a:normAutofit/>
          </a:bodyPr>
          <a:lstStyle/>
          <a:p>
            <a:pPr marL="0" indent="0" algn="r" rtl="1">
              <a:buNone/>
            </a:pPr>
            <a:r>
              <a:rPr lang="he-IL" sz="1600" b="1" dirty="0">
                <a:latin typeface="Assistant" pitchFamily="2" charset="-79"/>
                <a:cs typeface="Assistant" pitchFamily="2" charset="-79"/>
              </a:rPr>
              <a:t>מה זה </a:t>
            </a:r>
            <a:r>
              <a:rPr lang="en-US" sz="1600" b="1" dirty="0">
                <a:latin typeface="Assistant" pitchFamily="2" charset="-79"/>
                <a:cs typeface="Assistant" pitchFamily="2" charset="-79"/>
              </a:rPr>
              <a:t>AIME</a:t>
            </a:r>
            <a:r>
              <a:rPr lang="he-IL" sz="1600" b="1" dirty="0">
                <a:latin typeface="Assistant" pitchFamily="2" charset="-79"/>
                <a:cs typeface="Assistant" pitchFamily="2" charset="-79"/>
              </a:rPr>
              <a:t>?</a:t>
            </a:r>
          </a:p>
          <a:p>
            <a:pPr marL="0" indent="0" algn="r" rtl="1">
              <a:buNone/>
            </a:pPr>
            <a:r>
              <a:rPr lang="en-US" sz="1600" dirty="0">
                <a:latin typeface="Assistant" pitchFamily="2" charset="-79"/>
                <a:cs typeface="Assistant" pitchFamily="2" charset="-79"/>
              </a:rPr>
              <a:t> AIME 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הוא מבחן מתמטיקה יוקרתי וקשה מאוד לתלמידי תיכון מצטיינים בארה"ב. אין בו שאלות אמריקאיות, צריך לפתור בעיות</a:t>
            </a:r>
          </a:p>
          <a:p>
            <a:pPr marL="0" indent="0" algn="r" rtl="1">
              <a:buNone/>
            </a:pPr>
            <a:r>
              <a:rPr lang="he-IL" sz="1600" dirty="0">
                <a:latin typeface="Assistant" pitchFamily="2" charset="-79"/>
                <a:cs typeface="Assistant" pitchFamily="2" charset="-79"/>
              </a:rPr>
              <a:t>מורכבות שהתשובה עליהן היא מספר בין 0 ל999.</a:t>
            </a:r>
          </a:p>
          <a:p>
            <a:pPr marL="0" indent="0" algn="r" rtl="1">
              <a:buNone/>
            </a:pPr>
            <a:endParaRPr lang="he-IL" sz="1600" dirty="0">
              <a:latin typeface="Assistant" pitchFamily="2" charset="-79"/>
              <a:cs typeface="Assistant" pitchFamily="2" charset="-79"/>
            </a:endParaRPr>
          </a:p>
          <a:p>
            <a:pPr marL="0" indent="0" algn="r" rtl="1">
              <a:buNone/>
            </a:pPr>
            <a:r>
              <a:rPr lang="en-US" sz="1600" b="1" dirty="0">
                <a:latin typeface="Assistant" pitchFamily="2" charset="-79"/>
                <a:cs typeface="Assistant" pitchFamily="2" charset="-79"/>
              </a:rPr>
              <a:t>AIME 2024</a:t>
            </a:r>
            <a:r>
              <a:rPr lang="he-IL" sz="1600" b="1" dirty="0">
                <a:latin typeface="Assistant" pitchFamily="2" charset="-79"/>
                <a:cs typeface="Assistant" pitchFamily="2" charset="-79"/>
              </a:rPr>
              <a:t> - 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המבחן של שנה שעברה. הבעיה איתו היא שהתשובות שלו כבר נמצאות בכל האינטרנט. המודלים של ה-</a:t>
            </a:r>
            <a:r>
              <a:rPr lang="en-US" sz="1600" dirty="0">
                <a:latin typeface="Assistant" pitchFamily="2" charset="-79"/>
                <a:cs typeface="Assistant" pitchFamily="2" charset="-79"/>
              </a:rPr>
              <a:t>AI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 "קראו" אותן בזמן</a:t>
            </a:r>
          </a:p>
          <a:p>
            <a:pPr marL="0" indent="0" algn="r" rtl="1">
              <a:buNone/>
            </a:pPr>
            <a:r>
              <a:rPr lang="he-IL" sz="1600" dirty="0">
                <a:latin typeface="Assistant" pitchFamily="2" charset="-79"/>
                <a:cs typeface="Assistant" pitchFamily="2" charset="-79"/>
              </a:rPr>
              <a:t>האימון שלהם, ולכן הם לפעמים מקבלים ציון מושלם לא כי הם פתרו את השאלה, אלא כי הם </a:t>
            </a:r>
            <a:r>
              <a:rPr lang="he-IL" sz="1600" b="1" dirty="0">
                <a:latin typeface="Assistant" pitchFamily="2" charset="-79"/>
                <a:cs typeface="Assistant" pitchFamily="2" charset="-79"/>
              </a:rPr>
              <a:t>זוכרים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 את התשובה (זה נקרא "זיהום נתונים").</a:t>
            </a:r>
          </a:p>
          <a:p>
            <a:pPr marL="0" indent="0" algn="r" rtl="1">
              <a:buNone/>
            </a:pPr>
            <a:endParaRPr lang="he-IL" sz="1600" dirty="0">
              <a:latin typeface="Assistant" pitchFamily="2" charset="-79"/>
              <a:cs typeface="Assistant" pitchFamily="2" charset="-79"/>
            </a:endParaRPr>
          </a:p>
          <a:p>
            <a:pPr marL="0" indent="0" algn="r" rtl="1">
              <a:buNone/>
            </a:pPr>
            <a:r>
              <a:rPr lang="en-US" sz="1600" b="1" dirty="0">
                <a:latin typeface="Assistant" pitchFamily="2" charset="-79"/>
                <a:cs typeface="Assistant" pitchFamily="2" charset="-79"/>
              </a:rPr>
              <a:t>AIME 2025</a:t>
            </a:r>
            <a:r>
              <a:rPr lang="he-IL" sz="1600" b="1" dirty="0">
                <a:latin typeface="Assistant" pitchFamily="2" charset="-79"/>
                <a:cs typeface="Assistant" pitchFamily="2" charset="-79"/>
              </a:rPr>
              <a:t> - 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זה המבחן ה"נקי". משתמשים בשאלות חדשות לגמרי שה-</a:t>
            </a:r>
            <a:r>
              <a:rPr lang="en-US" sz="1600" dirty="0">
                <a:latin typeface="Assistant" pitchFamily="2" charset="-79"/>
                <a:cs typeface="Assistant" pitchFamily="2" charset="-79"/>
              </a:rPr>
              <a:t>AI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 עוד לא ראה, כדי לראות אם הוא באמת יודע לפתור בעיות בזמן</a:t>
            </a:r>
          </a:p>
          <a:p>
            <a:pPr marL="0" indent="0" algn="r" rtl="1">
              <a:buNone/>
            </a:pPr>
            <a:r>
              <a:rPr lang="he-IL" sz="1600" dirty="0">
                <a:latin typeface="Assistant" pitchFamily="2" charset="-79"/>
                <a:cs typeface="Assistant" pitchFamily="2" charset="-79"/>
              </a:rPr>
              <a:t>אמת.</a:t>
            </a:r>
          </a:p>
          <a:p>
            <a:pPr marL="0" indent="0" algn="r" rtl="1">
              <a:buNone/>
            </a:pPr>
            <a:endParaRPr lang="he-IL" sz="1600" b="1" dirty="0">
              <a:latin typeface="Assistant" pitchFamily="2" charset="-79"/>
              <a:cs typeface="Assistant" pitchFamily="2" charset="-79"/>
            </a:endParaRPr>
          </a:p>
          <a:p>
            <a:pPr marL="0" indent="0" algn="r" rtl="1">
              <a:buNone/>
            </a:pPr>
            <a:r>
              <a:rPr lang="he-IL" sz="1600" b="1" dirty="0">
                <a:latin typeface="Assistant" pitchFamily="2" charset="-79"/>
                <a:cs typeface="Assistant" pitchFamily="2" charset="-79"/>
              </a:rPr>
              <a:t>מה המבחן מבטא?</a:t>
            </a:r>
          </a:p>
          <a:p>
            <a:pPr marL="0" indent="0" algn="r" rtl="1">
              <a:buNone/>
            </a:pPr>
            <a:r>
              <a:rPr lang="he-IL" sz="1600" dirty="0">
                <a:latin typeface="Assistant" pitchFamily="2" charset="-79"/>
                <a:cs typeface="Assistant" pitchFamily="2" charset="-79"/>
              </a:rPr>
              <a:t>יכולת לעקוב אחרי הוראות מדויקות מאוד ולבצע חשיבה מתמטית עמוקה.</a:t>
            </a:r>
            <a:endParaRPr lang="he-IL" sz="2400" dirty="0">
              <a:latin typeface="Assistant" pitchFamily="2" charset="-79"/>
              <a:cs typeface="Assistant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722710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3857E-EE1D-469B-8C88-040191D32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 err="1">
                <a:effectLst/>
                <a:latin typeface="Heebo" pitchFamily="2" charset="-79"/>
                <a:ea typeface="Calibri" panose="020F0502020204030204" pitchFamily="34" charset="0"/>
                <a:cs typeface="Heebo" pitchFamily="2" charset="-79"/>
              </a:rPr>
              <a:t>LiveCodeBench</a:t>
            </a:r>
            <a:endParaRPr lang="he-IL" sz="4000" dirty="0">
              <a:latin typeface="Heebo" pitchFamily="2" charset="-79"/>
              <a:cs typeface="Heebo" pitchFamily="2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A6172-1E11-4058-AFEC-8BDE2164A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r">
              <a:buNone/>
            </a:pPr>
            <a:r>
              <a:rPr lang="he-IL" sz="1600" b="1" dirty="0">
                <a:latin typeface="Assistant" pitchFamily="2" charset="-79"/>
                <a:cs typeface="Assistant" pitchFamily="2" charset="-79"/>
              </a:rPr>
              <a:t>מה המבחן מכיל?</a:t>
            </a:r>
          </a:p>
          <a:p>
            <a:pPr marL="0" indent="0" algn="r" rtl="1">
              <a:buNone/>
            </a:pPr>
            <a:r>
              <a:rPr lang="he-IL" sz="1600" dirty="0">
                <a:latin typeface="Assistant" pitchFamily="2" charset="-79"/>
                <a:cs typeface="Assistant" pitchFamily="2" charset="-79"/>
              </a:rPr>
              <a:t>אוסף של בעיות תכנות חדשות מפלטפורמות של תכנות תחרותי (כגון </a:t>
            </a:r>
            <a:r>
              <a:rPr lang="en-US" sz="1600" dirty="0" err="1">
                <a:latin typeface="Assistant" pitchFamily="2" charset="-79"/>
                <a:cs typeface="Assistant" pitchFamily="2" charset="-79"/>
              </a:rPr>
              <a:t>LeetCode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).</a:t>
            </a:r>
            <a:endParaRPr lang="en-US" sz="1600" dirty="0">
              <a:latin typeface="Assistant" pitchFamily="2" charset="-79"/>
              <a:cs typeface="Assistant" pitchFamily="2" charset="-79"/>
            </a:endParaRPr>
          </a:p>
          <a:p>
            <a:pPr marL="0" indent="0" algn="r">
              <a:buNone/>
            </a:pPr>
            <a:endParaRPr lang="he-IL" sz="1600" b="1" dirty="0">
              <a:latin typeface="Assistant" pitchFamily="2" charset="-79"/>
              <a:cs typeface="Assistant" pitchFamily="2" charset="-79"/>
            </a:endParaRPr>
          </a:p>
          <a:p>
            <a:pPr marL="0" indent="0" algn="r">
              <a:buNone/>
            </a:pPr>
            <a:r>
              <a:rPr lang="he-IL" sz="1600" b="1" dirty="0">
                <a:latin typeface="Assistant" pitchFamily="2" charset="-79"/>
                <a:cs typeface="Assistant" pitchFamily="2" charset="-79"/>
              </a:rPr>
              <a:t>איך מודדים ביצועים?</a:t>
            </a:r>
          </a:p>
          <a:p>
            <a:pPr algn="r" rtl="1"/>
            <a:r>
              <a:rPr lang="he-IL" sz="1600" dirty="0">
                <a:latin typeface="Assistant" pitchFamily="2" charset="-79"/>
                <a:cs typeface="Assistant" pitchFamily="2" charset="-79"/>
              </a:rPr>
              <a:t>המודלים מקבלים תיאור בעיה בשפה טבעית ובדיקות דוגמה.</a:t>
            </a:r>
          </a:p>
          <a:p>
            <a:pPr algn="r" rtl="1"/>
            <a:r>
              <a:rPr lang="he-IL" sz="1600" dirty="0">
                <a:latin typeface="Assistant" pitchFamily="2" charset="-79"/>
                <a:cs typeface="Assistant" pitchFamily="2" charset="-79"/>
              </a:rPr>
              <a:t>עליהם ליצור פתרון בשפת </a:t>
            </a:r>
            <a:r>
              <a:rPr lang="en-US" sz="1600" dirty="0">
                <a:latin typeface="Assistant" pitchFamily="2" charset="-79"/>
                <a:cs typeface="Assistant" pitchFamily="2" charset="-79"/>
              </a:rPr>
              <a:t>Python</a:t>
            </a:r>
            <a:r>
              <a:rPr lang="he-IL" sz="1600" b="1" dirty="0">
                <a:latin typeface="Assistant" pitchFamily="2" charset="-79"/>
                <a:cs typeface="Assistant" pitchFamily="2" charset="-79"/>
              </a:rPr>
              <a:t> 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תקין מבחינה סינטקטית.</a:t>
            </a:r>
          </a:p>
          <a:p>
            <a:pPr algn="r" rtl="1"/>
            <a:r>
              <a:rPr lang="he-IL" sz="1600" dirty="0">
                <a:latin typeface="Assistant" pitchFamily="2" charset="-79"/>
                <a:cs typeface="Assistant" pitchFamily="2" charset="-79"/>
              </a:rPr>
              <a:t>הפתרונות נבדקים מול מקרי בחינה נסתרים כדי לוודא תקינות פונקציונלית.</a:t>
            </a:r>
          </a:p>
          <a:p>
            <a:pPr marL="0" indent="0" algn="r" rtl="1">
              <a:buNone/>
            </a:pPr>
            <a:endParaRPr lang="he-IL" sz="1600" b="1" dirty="0">
              <a:latin typeface="Assistant" pitchFamily="2" charset="-79"/>
              <a:cs typeface="Assistant" pitchFamily="2" charset="-79"/>
            </a:endParaRPr>
          </a:p>
          <a:p>
            <a:pPr marL="0" indent="0" algn="r" rtl="1">
              <a:buNone/>
            </a:pPr>
            <a:r>
              <a:rPr lang="he-IL" sz="1600" b="1" dirty="0">
                <a:latin typeface="Assistant" pitchFamily="2" charset="-79"/>
                <a:cs typeface="Assistant" pitchFamily="2" charset="-79"/>
              </a:rPr>
              <a:t>מה המבחן מבטא?</a:t>
            </a:r>
          </a:p>
          <a:p>
            <a:pPr marL="0" indent="0" algn="r" rtl="1">
              <a:buNone/>
            </a:pPr>
            <a:r>
              <a:rPr lang="he-IL" sz="1600" dirty="0">
                <a:latin typeface="Assistant" pitchFamily="2" charset="-79"/>
                <a:cs typeface="Assistant" pitchFamily="2" charset="-79"/>
              </a:rPr>
              <a:t>יכולת לתרגם הוראות לפתרון קוד נכון, מלא ועובד.</a:t>
            </a:r>
          </a:p>
        </p:txBody>
      </p:sp>
    </p:spTree>
    <p:extLst>
      <p:ext uri="{BB962C8B-B14F-4D97-AF65-F5344CB8AC3E}">
        <p14:creationId xmlns:p14="http://schemas.microsoft.com/office/powerpoint/2010/main" val="2123994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3857E-EE1D-469B-8C88-040191D32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effectLst/>
                <a:latin typeface="Heebo" pitchFamily="2" charset="-79"/>
                <a:ea typeface="Calibri" panose="020F0502020204030204" pitchFamily="34" charset="0"/>
                <a:cs typeface="Heebo" pitchFamily="2" charset="-79"/>
              </a:rPr>
              <a:t>Aider</a:t>
            </a:r>
            <a:endParaRPr lang="he-IL" sz="4000" dirty="0">
              <a:latin typeface="Heebo" pitchFamily="2" charset="-79"/>
              <a:cs typeface="Heebo" pitchFamily="2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A6172-1E11-4058-AFEC-8BDE2164A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55912"/>
          </a:xfrm>
        </p:spPr>
        <p:txBody>
          <a:bodyPr>
            <a:noAutofit/>
          </a:bodyPr>
          <a:lstStyle/>
          <a:p>
            <a:pPr marL="0" indent="0" algn="r">
              <a:buNone/>
            </a:pPr>
            <a:r>
              <a:rPr lang="he-IL" sz="1600" b="1" dirty="0">
                <a:latin typeface="Assistant" pitchFamily="2" charset="-79"/>
                <a:cs typeface="Assistant" pitchFamily="2" charset="-79"/>
              </a:rPr>
              <a:t>מה המבנה של המבחן?</a:t>
            </a:r>
          </a:p>
          <a:p>
            <a:pPr algn="r" rtl="1"/>
            <a:r>
              <a:rPr lang="he-IL" sz="1600" dirty="0">
                <a:latin typeface="Assistant" pitchFamily="2" charset="-79"/>
                <a:cs typeface="Assistant" pitchFamily="2" charset="-79"/>
              </a:rPr>
              <a:t>עבודה על פרויקט קוד אמיתי</a:t>
            </a:r>
          </a:p>
          <a:p>
            <a:pPr algn="r" rtl="1"/>
            <a:r>
              <a:rPr lang="he-IL" sz="1600" dirty="0">
                <a:latin typeface="Assistant" pitchFamily="2" charset="-79"/>
                <a:cs typeface="Assistant" pitchFamily="2" charset="-79"/>
              </a:rPr>
              <a:t>המודל מקבל משימה: תיקון באג / הוספת פיצ’ר</a:t>
            </a:r>
          </a:p>
          <a:p>
            <a:pPr algn="r" rtl="1"/>
            <a:r>
              <a:rPr lang="he-IL" sz="1600" dirty="0">
                <a:latin typeface="Assistant" pitchFamily="2" charset="-79"/>
                <a:cs typeface="Assistant" pitchFamily="2" charset="-79"/>
              </a:rPr>
              <a:t>נדרש לבצע שינויים נכונים בקוד קיים (לעיתים במספר קבצים)</a:t>
            </a:r>
          </a:p>
          <a:p>
            <a:pPr marL="0" indent="0" algn="r" rtl="1">
              <a:buNone/>
            </a:pPr>
            <a:endParaRPr lang="he-IL" sz="1600" dirty="0">
              <a:latin typeface="Assistant" pitchFamily="2" charset="-79"/>
              <a:cs typeface="Assistant" pitchFamily="2" charset="-79"/>
            </a:endParaRPr>
          </a:p>
          <a:p>
            <a:pPr marL="0" indent="0" algn="r" rtl="1">
              <a:buNone/>
            </a:pPr>
            <a:r>
              <a:rPr lang="he-IL" sz="1600" b="1" dirty="0">
                <a:latin typeface="Assistant" pitchFamily="2" charset="-79"/>
                <a:cs typeface="Assistant" pitchFamily="2" charset="-79"/>
              </a:rPr>
              <a:t>איך מודדים ביצועים?</a:t>
            </a:r>
          </a:p>
          <a:p>
            <a:pPr algn="r" rtl="1"/>
            <a:r>
              <a:rPr lang="he-IL" sz="1600" dirty="0">
                <a:latin typeface="Assistant" pitchFamily="2" charset="-79"/>
                <a:cs typeface="Assistant" pitchFamily="2" charset="-79"/>
              </a:rPr>
              <a:t>האם הבעיה נפתרה בפועל</a:t>
            </a:r>
          </a:p>
          <a:p>
            <a:pPr algn="r" rtl="1"/>
            <a:r>
              <a:rPr lang="he-IL" sz="1600" dirty="0">
                <a:latin typeface="Assistant" pitchFamily="2" charset="-79"/>
                <a:cs typeface="Assistant" pitchFamily="2" charset="-79"/>
              </a:rPr>
              <a:t>האם הקוד עובר בדיקות (</a:t>
            </a:r>
            <a:r>
              <a:rPr lang="en-US" sz="1600" dirty="0">
                <a:latin typeface="Assistant" pitchFamily="2" charset="-79"/>
                <a:cs typeface="Assistant" pitchFamily="2" charset="-79"/>
              </a:rPr>
              <a:t>tests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)</a:t>
            </a:r>
          </a:p>
          <a:p>
            <a:pPr marL="0" indent="0" algn="r" rtl="1">
              <a:buNone/>
            </a:pPr>
            <a:endParaRPr lang="he-IL" sz="1600" dirty="0">
              <a:latin typeface="Assistant" pitchFamily="2" charset="-79"/>
              <a:cs typeface="Assistant" pitchFamily="2" charset="-79"/>
            </a:endParaRPr>
          </a:p>
          <a:p>
            <a:pPr marL="0" indent="0" algn="r" rtl="1">
              <a:buNone/>
            </a:pPr>
            <a:r>
              <a:rPr lang="he-IL" sz="1600" b="1" dirty="0">
                <a:latin typeface="Assistant" pitchFamily="2" charset="-79"/>
                <a:cs typeface="Assistant" pitchFamily="2" charset="-79"/>
              </a:rPr>
              <a:t>מה המבחן מבטא?</a:t>
            </a:r>
          </a:p>
          <a:p>
            <a:pPr marL="0" indent="0" algn="r" rtl="1">
              <a:buNone/>
            </a:pPr>
            <a:r>
              <a:rPr lang="he-IL" sz="1600" dirty="0">
                <a:latin typeface="Assistant" pitchFamily="2" charset="-79"/>
                <a:cs typeface="Assistant" pitchFamily="2" charset="-79"/>
              </a:rPr>
              <a:t>יכולת לעבוד בתוך קוד קיים וליישם הוראות בסביבה מורכבת</a:t>
            </a:r>
          </a:p>
        </p:txBody>
      </p:sp>
    </p:spTree>
    <p:extLst>
      <p:ext uri="{BB962C8B-B14F-4D97-AF65-F5344CB8AC3E}">
        <p14:creationId xmlns:p14="http://schemas.microsoft.com/office/powerpoint/2010/main" val="3739291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3857E-EE1D-469B-8C88-040191D32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effectLst/>
                <a:latin typeface="Heebo" pitchFamily="2" charset="-79"/>
                <a:ea typeface="Calibri" panose="020F0502020204030204" pitchFamily="34" charset="0"/>
                <a:cs typeface="Heebo" pitchFamily="2" charset="-79"/>
              </a:rPr>
              <a:t>BFCL</a:t>
            </a:r>
            <a:endParaRPr lang="he-IL" sz="4000" dirty="0">
              <a:latin typeface="Heebo" pitchFamily="2" charset="-79"/>
              <a:cs typeface="Heebo" pitchFamily="2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A6172-1E11-4058-AFEC-8BDE2164A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5"/>
            <a:ext cx="11353800" cy="4351338"/>
          </a:xfrm>
        </p:spPr>
        <p:txBody>
          <a:bodyPr>
            <a:noAutofit/>
          </a:bodyPr>
          <a:lstStyle/>
          <a:p>
            <a:pPr marL="0" indent="0" algn="r" rtl="1">
              <a:buNone/>
            </a:pPr>
            <a:r>
              <a:rPr lang="he-IL" sz="1600" b="1" dirty="0">
                <a:latin typeface="Assistant" pitchFamily="2" charset="-79"/>
                <a:cs typeface="Assistant" pitchFamily="2" charset="-79"/>
              </a:rPr>
              <a:t>מהות המבחן: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 </a:t>
            </a:r>
          </a:p>
          <a:p>
            <a:pPr algn="r" rtl="1"/>
            <a:r>
              <a:rPr lang="he-IL" sz="1600" dirty="0">
                <a:latin typeface="Assistant" pitchFamily="2" charset="-79"/>
                <a:cs typeface="Assistant" pitchFamily="2" charset="-79"/>
              </a:rPr>
              <a:t>בחינת יכולתו של מודל שפה גדול (</a:t>
            </a:r>
            <a:r>
              <a:rPr lang="en-US" sz="1600" dirty="0">
                <a:latin typeface="Assistant" pitchFamily="2" charset="-79"/>
                <a:cs typeface="Assistant" pitchFamily="2" charset="-79"/>
              </a:rPr>
              <a:t>(LLM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 להפעיל פונקציות חיצוניות וממשקי </a:t>
            </a:r>
            <a:r>
              <a:rPr lang="en-US" sz="1600" dirty="0">
                <a:latin typeface="Assistant" pitchFamily="2" charset="-79"/>
                <a:cs typeface="Assistant" pitchFamily="2" charset="-79"/>
              </a:rPr>
              <a:t>API</a:t>
            </a:r>
            <a:endParaRPr lang="he-IL" sz="1600" dirty="0">
              <a:latin typeface="Assistant" pitchFamily="2" charset="-79"/>
              <a:cs typeface="Assistant" pitchFamily="2" charset="-79"/>
            </a:endParaRPr>
          </a:p>
          <a:p>
            <a:pPr algn="r" rtl="1"/>
            <a:r>
              <a:rPr lang="he-IL" sz="1600" dirty="0">
                <a:latin typeface="Assistant" pitchFamily="2" charset="-79"/>
                <a:cs typeface="Assistant" pitchFamily="2" charset="-79"/>
              </a:rPr>
              <a:t>הפעלת כלים שהוגדרו על ידי המשתמש, כמענה לשאילתות</a:t>
            </a:r>
            <a:endParaRPr lang="he-IL" sz="1600" b="1" dirty="0">
              <a:latin typeface="Assistant" pitchFamily="2" charset="-79"/>
              <a:cs typeface="Assistant" pitchFamily="2" charset="-79"/>
            </a:endParaRPr>
          </a:p>
          <a:p>
            <a:pPr marL="0" indent="0" algn="r" rtl="1">
              <a:buNone/>
            </a:pPr>
            <a:r>
              <a:rPr lang="he-IL" sz="1600" b="1" dirty="0">
                <a:latin typeface="Assistant" pitchFamily="2" charset="-79"/>
                <a:cs typeface="Assistant" pitchFamily="2" charset="-79"/>
              </a:rPr>
              <a:t>מה המבחן מכיל?</a:t>
            </a:r>
          </a:p>
          <a:p>
            <a:pPr algn="r" rtl="1"/>
            <a:r>
              <a:rPr lang="he-IL" sz="1600" dirty="0">
                <a:latin typeface="Assistant" pitchFamily="2" charset="-79"/>
                <a:cs typeface="Assistant" pitchFamily="2" charset="-79"/>
              </a:rPr>
              <a:t>שימוש בכמה כלים בו-זמנית או ביצוע שרשרת פעולות, למשל: מציאת טיסה ואז הזמנת מלון.</a:t>
            </a:r>
          </a:p>
          <a:p>
            <a:pPr algn="r" rtl="1"/>
            <a:r>
              <a:rPr lang="he-IL" sz="1600" dirty="0">
                <a:latin typeface="Assistant" pitchFamily="2" charset="-79"/>
                <a:cs typeface="Assistant" pitchFamily="2" charset="-79"/>
              </a:rPr>
              <a:t>שימוש ב-</a:t>
            </a:r>
            <a:r>
              <a:rPr lang="en-US" sz="1600" dirty="0">
                <a:latin typeface="Assistant" pitchFamily="2" charset="-79"/>
                <a:cs typeface="Assistant" pitchFamily="2" charset="-79"/>
              </a:rPr>
              <a:t> APIs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אמיתיים - שירותים חיים כגון מזג אוויר, מניות, חיפוש נתונים.</a:t>
            </a:r>
          </a:p>
          <a:p>
            <a:pPr algn="r" rtl="1"/>
            <a:r>
              <a:rPr lang="he-IL" sz="1600" b="1" dirty="0">
                <a:latin typeface="Assistant" pitchFamily="2" charset="-79"/>
                <a:cs typeface="Assistant" pitchFamily="2" charset="-79"/>
              </a:rPr>
              <a:t>איך מודדים ביצועים?</a:t>
            </a:r>
          </a:p>
          <a:p>
            <a:pPr algn="r" rtl="1"/>
            <a:r>
              <a:rPr lang="he-IL" sz="1600" dirty="0">
                <a:latin typeface="Assistant" pitchFamily="2" charset="-79"/>
                <a:cs typeface="Assistant" pitchFamily="2" charset="-79"/>
              </a:rPr>
              <a:t>לא מריצים את הקוד בפועל כדי למנוע בעיות של איטיות או סיכון</a:t>
            </a:r>
          </a:p>
          <a:p>
            <a:pPr algn="r" rtl="1"/>
            <a:r>
              <a:rPr lang="he-IL" sz="1600" dirty="0">
                <a:latin typeface="Assistant" pitchFamily="2" charset="-79"/>
                <a:cs typeface="Assistant" pitchFamily="2" charset="-79"/>
              </a:rPr>
              <a:t>המערכת מנתחת את מבנה הקוד שהמודל יצר.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1600" dirty="0">
                <a:latin typeface="Assistant" pitchFamily="2" charset="-79"/>
                <a:cs typeface="Assistant" pitchFamily="2" charset="-79"/>
              </a:rPr>
              <a:t>בודקת אם הפונקציות והפרמטרים נכונים (שם הפונקציה, סוג נתונים, פורמט)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1600" b="1" dirty="0">
                <a:latin typeface="Assistant" pitchFamily="2" charset="-79"/>
                <a:cs typeface="Assistant" pitchFamily="2" charset="-79"/>
              </a:rPr>
              <a:t>מה המבחן מבטא?</a:t>
            </a:r>
          </a:p>
          <a:p>
            <a:pPr marL="0" indent="0" algn="r" rtl="1">
              <a:buNone/>
            </a:pPr>
            <a:r>
              <a:rPr lang="he-IL" sz="1600" dirty="0">
                <a:latin typeface="Assistant" pitchFamily="2" charset="-79"/>
                <a:cs typeface="Assistant" pitchFamily="2" charset="-79"/>
              </a:rPr>
              <a:t>מעבר מהבנת שפה לביצוע משימות טכניות ותרגום הוראות אנושיות לפעולות מדויקות, לוגיות ומוגנות טעויות </a:t>
            </a:r>
          </a:p>
        </p:txBody>
      </p:sp>
    </p:spTree>
    <p:extLst>
      <p:ext uri="{BB962C8B-B14F-4D97-AF65-F5344CB8AC3E}">
        <p14:creationId xmlns:p14="http://schemas.microsoft.com/office/powerpoint/2010/main" val="1357861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3857E-EE1D-469B-8C88-040191D32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 err="1">
                <a:effectLst/>
                <a:latin typeface="Heebo" pitchFamily="2" charset="-79"/>
                <a:ea typeface="Calibri" panose="020F0502020204030204" pitchFamily="34" charset="0"/>
                <a:cs typeface="Heebo" pitchFamily="2" charset="-79"/>
              </a:rPr>
              <a:t>LiveBench</a:t>
            </a:r>
            <a:endParaRPr lang="he-IL" sz="4000" dirty="0">
              <a:latin typeface="Heebo" pitchFamily="2" charset="-79"/>
              <a:cs typeface="Heebo" pitchFamily="2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A6172-1E11-4058-AFEC-8BDE2164A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39870"/>
          </a:xfrm>
        </p:spPr>
        <p:txBody>
          <a:bodyPr>
            <a:noAutofit/>
          </a:bodyPr>
          <a:lstStyle/>
          <a:p>
            <a:pPr marL="0" indent="0" algn="r" rtl="1">
              <a:buNone/>
            </a:pPr>
            <a:r>
              <a:rPr lang="en-US" sz="1600" b="1" dirty="0">
                <a:latin typeface="Assistant" pitchFamily="2" charset="-79"/>
                <a:cs typeface="Assistant" pitchFamily="2" charset="-79"/>
              </a:rPr>
              <a:t> </a:t>
            </a:r>
            <a:r>
              <a:rPr lang="he-IL" sz="1600" b="1" dirty="0">
                <a:latin typeface="Assistant" pitchFamily="2" charset="-79"/>
                <a:cs typeface="Assistant" pitchFamily="2" charset="-79"/>
              </a:rPr>
              <a:t>מהות המבחן:  </a:t>
            </a:r>
            <a:endParaRPr lang="en-US" sz="1600" b="1" dirty="0">
              <a:latin typeface="Assistant" pitchFamily="2" charset="-79"/>
              <a:cs typeface="Assistant" pitchFamily="2" charset="-79"/>
            </a:endParaRPr>
          </a:p>
          <a:p>
            <a:pPr marL="0" indent="0" algn="r" rtl="1">
              <a:buNone/>
            </a:pPr>
            <a:r>
              <a:rPr lang="he-IL" sz="1600" dirty="0">
                <a:latin typeface="Assistant" pitchFamily="2" charset="-79"/>
                <a:cs typeface="Assistant" pitchFamily="2" charset="-79"/>
              </a:rPr>
              <a:t>נועד להגביל זיהום נתונים על ידי שחרור שאלות חדשות מדי חודש</a:t>
            </a:r>
          </a:p>
          <a:p>
            <a:pPr marL="0" indent="0" algn="r" rtl="1">
              <a:buNone/>
            </a:pPr>
            <a:r>
              <a:rPr lang="he-IL" sz="1600" b="1" dirty="0">
                <a:latin typeface="Assistant" pitchFamily="2" charset="-79"/>
                <a:cs typeface="Assistant" pitchFamily="2" charset="-79"/>
              </a:rPr>
              <a:t>מה המבחן מכיל?</a:t>
            </a:r>
          </a:p>
          <a:p>
            <a:pPr marL="0" indent="0" algn="r">
              <a:buNone/>
            </a:pPr>
            <a:r>
              <a:rPr lang="he-IL" sz="1600" dirty="0">
                <a:latin typeface="Assistant" pitchFamily="2" charset="-79"/>
                <a:cs typeface="Assistant" pitchFamily="2" charset="-79"/>
              </a:rPr>
              <a:t>18 משימות מגוונות ב-6 קטגוריות עיקריות:</a:t>
            </a:r>
            <a:endParaRPr lang="en-US" sz="1600" dirty="0">
              <a:latin typeface="Assistant" pitchFamily="2" charset="-79"/>
              <a:cs typeface="Assistant" pitchFamily="2" charset="-79"/>
            </a:endParaRPr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1600" b="1" dirty="0">
                <a:latin typeface="Assistant" pitchFamily="2" charset="-79"/>
                <a:cs typeface="Assistant" pitchFamily="2" charset="-79"/>
              </a:rPr>
              <a:t>חשיבה</a:t>
            </a:r>
            <a:r>
              <a:rPr lang="en-US" sz="1600" b="1" dirty="0">
                <a:latin typeface="Assistant" pitchFamily="2" charset="-79"/>
                <a:cs typeface="Assistant" pitchFamily="2" charset="-79"/>
              </a:rPr>
              <a:t>Reasoning)</a:t>
            </a:r>
            <a:r>
              <a:rPr lang="en-US" sz="1600" dirty="0">
                <a:latin typeface="Assistant" pitchFamily="2" charset="-79"/>
                <a:cs typeface="Assistant" pitchFamily="2" charset="-79"/>
              </a:rPr>
              <a:t> </a:t>
            </a:r>
            <a:r>
              <a:rPr lang="he-IL" sz="1600" b="1" dirty="0">
                <a:latin typeface="Assistant" pitchFamily="2" charset="-79"/>
                <a:cs typeface="Assistant" pitchFamily="2" charset="-79"/>
              </a:rPr>
              <a:t>):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 פתרון חידות לוגיות ומבני נתונים מורכבים.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1600" b="1" dirty="0">
                <a:latin typeface="Assistant" pitchFamily="2" charset="-79"/>
                <a:cs typeface="Assistant" pitchFamily="2" charset="-79"/>
              </a:rPr>
              <a:t>מתמטיקה: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 פתרון בעיות כמותיות הדורשות שלבי הסקה.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1600" b="1" dirty="0">
                <a:latin typeface="Assistant" pitchFamily="2" charset="-79"/>
                <a:cs typeface="Assistant" pitchFamily="2" charset="-79"/>
              </a:rPr>
              <a:t>תכנות</a:t>
            </a:r>
            <a:r>
              <a:rPr lang="en-US" sz="1600" b="1" dirty="0">
                <a:latin typeface="Assistant" pitchFamily="2" charset="-79"/>
                <a:cs typeface="Assistant" pitchFamily="2" charset="-79"/>
              </a:rPr>
              <a:t>Coding) </a:t>
            </a:r>
            <a:r>
              <a:rPr lang="he-IL" sz="1600" b="1" dirty="0">
                <a:latin typeface="Assistant" pitchFamily="2" charset="-79"/>
                <a:cs typeface="Assistant" pitchFamily="2" charset="-79"/>
              </a:rPr>
              <a:t>): 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כתיבת קוד והשלמת קוד בסביבה סוכנת </a:t>
            </a:r>
            <a:r>
              <a:rPr lang="en-US" sz="1600" dirty="0">
                <a:latin typeface="Assistant" pitchFamily="2" charset="-79"/>
                <a:cs typeface="Assistant" pitchFamily="2" charset="-79"/>
              </a:rPr>
              <a:t>Agentic)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).</a:t>
            </a:r>
            <a:endParaRPr lang="en-US" sz="1600" dirty="0">
              <a:latin typeface="Assistant" pitchFamily="2" charset="-79"/>
              <a:cs typeface="Assistant" pitchFamily="2" charset="-79"/>
            </a:endParaRPr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1600" b="1" dirty="0">
                <a:latin typeface="Assistant" pitchFamily="2" charset="-79"/>
                <a:cs typeface="Assistant" pitchFamily="2" charset="-79"/>
              </a:rPr>
              <a:t>ניתוח נתונים: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 חילוץ תובנות מתוך מידע גולמי.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1600" b="1" dirty="0">
                <a:latin typeface="Assistant" pitchFamily="2" charset="-79"/>
                <a:cs typeface="Assistant" pitchFamily="2" charset="-79"/>
              </a:rPr>
              <a:t>מעקב אחר הוראות</a:t>
            </a:r>
            <a:r>
              <a:rPr lang="en-US" sz="1600" b="1" dirty="0">
                <a:latin typeface="Assistant" pitchFamily="2" charset="-79"/>
                <a:cs typeface="Assistant" pitchFamily="2" charset="-79"/>
              </a:rPr>
              <a:t>Instruction Following)</a:t>
            </a:r>
            <a:r>
              <a:rPr lang="en-US" sz="1600" dirty="0">
                <a:latin typeface="Assistant" pitchFamily="2" charset="-79"/>
                <a:cs typeface="Assistant" pitchFamily="2" charset="-79"/>
              </a:rPr>
              <a:t> </a:t>
            </a:r>
            <a:r>
              <a:rPr lang="he-IL" sz="1600" b="1" dirty="0">
                <a:latin typeface="Assistant" pitchFamily="2" charset="-79"/>
                <a:cs typeface="Assistant" pitchFamily="2" charset="-79"/>
              </a:rPr>
              <a:t>):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 ציות להוראות פורמט נוקשות (כגון: "ענה ב-5 מילים בלבד")</a:t>
            </a:r>
          </a:p>
          <a:p>
            <a:pPr marL="0" indent="0" algn="r" rtl="1">
              <a:buNone/>
            </a:pPr>
            <a:r>
              <a:rPr lang="he-IL" sz="1600" b="1" dirty="0">
                <a:latin typeface="Assistant" pitchFamily="2" charset="-79"/>
                <a:cs typeface="Assistant" pitchFamily="2" charset="-79"/>
              </a:rPr>
              <a:t>איך מודדים ביצועים?</a:t>
            </a:r>
          </a:p>
          <a:p>
            <a:pPr algn="r" rtl="1"/>
            <a:r>
              <a:rPr lang="he-IL" sz="1600" dirty="0">
                <a:latin typeface="Assistant" pitchFamily="2" charset="-79"/>
                <a:cs typeface="Assistant" pitchFamily="2" charset="-79"/>
              </a:rPr>
              <a:t>כל שאלה נבדקת מול תשובות אובייקטיביות </a:t>
            </a:r>
            <a:r>
              <a:rPr lang="en-US" sz="1600" dirty="0">
                <a:latin typeface="Assistant" pitchFamily="2" charset="-79"/>
                <a:cs typeface="Assistant" pitchFamily="2" charset="-79"/>
              </a:rPr>
              <a:t>Ground-Truth)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)</a:t>
            </a:r>
          </a:p>
          <a:p>
            <a:pPr algn="r" rtl="1"/>
            <a:r>
              <a:rPr lang="he-IL" sz="1600" dirty="0">
                <a:latin typeface="Assistant" pitchFamily="2" charset="-79"/>
                <a:cs typeface="Assistant" pitchFamily="2" charset="-79"/>
              </a:rPr>
              <a:t>דירוג אוטומטי ומדויק של שאלות קשות, ללא שימוש ב-</a:t>
            </a:r>
            <a:r>
              <a:rPr lang="en-US" sz="1600" dirty="0">
                <a:latin typeface="Assistant" pitchFamily="2" charset="-79"/>
                <a:cs typeface="Assistant" pitchFamily="2" charset="-79"/>
              </a:rPr>
              <a:t> LLM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כשופט</a:t>
            </a:r>
          </a:p>
          <a:p>
            <a:pPr marL="0" indent="0" algn="r" rtl="1">
              <a:buNone/>
            </a:pPr>
            <a:r>
              <a:rPr lang="he-IL" sz="1600" b="1" dirty="0">
                <a:latin typeface="Assistant" pitchFamily="2" charset="-79"/>
                <a:cs typeface="Assistant" pitchFamily="2" charset="-79"/>
              </a:rPr>
              <a:t>מה המבחן מבטא?</a:t>
            </a:r>
          </a:p>
          <a:p>
            <a:pPr marL="0" indent="0" algn="r" rtl="1">
              <a:buNone/>
            </a:pPr>
            <a:r>
              <a:rPr lang="he-IL" sz="1600" dirty="0">
                <a:latin typeface="Assistant" pitchFamily="2" charset="-79"/>
                <a:cs typeface="Assistant" pitchFamily="2" charset="-79"/>
              </a:rPr>
              <a:t>בודק את אמינות, עדכניות ומדיוק המודל כשפוגש מידע חדש שלא התכונן אליו מראש</a:t>
            </a:r>
          </a:p>
        </p:txBody>
      </p:sp>
    </p:spTree>
    <p:extLst>
      <p:ext uri="{BB962C8B-B14F-4D97-AF65-F5344CB8AC3E}">
        <p14:creationId xmlns:p14="http://schemas.microsoft.com/office/powerpoint/2010/main" val="3422620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3857E-EE1D-469B-8C88-040191D32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effectLst/>
                <a:latin typeface="Heebo" pitchFamily="2" charset="-79"/>
                <a:ea typeface="Calibri" panose="020F0502020204030204" pitchFamily="34" charset="0"/>
                <a:cs typeface="Heebo" pitchFamily="2" charset="-79"/>
              </a:rPr>
              <a:t>MMLU</a:t>
            </a:r>
            <a:endParaRPr lang="he-IL" sz="4000" dirty="0">
              <a:latin typeface="Heebo" pitchFamily="2" charset="-79"/>
              <a:cs typeface="Heebo" pitchFamily="2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A6172-1E11-4058-AFEC-8BDE2164A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r">
              <a:buNone/>
            </a:pPr>
            <a:r>
              <a:rPr lang="he-IL" sz="1600" b="1" dirty="0">
                <a:latin typeface="Assistant" pitchFamily="2" charset="-79"/>
                <a:cs typeface="Assistant" pitchFamily="2" charset="-79"/>
              </a:rPr>
              <a:t>מה המבחן מכיל?</a:t>
            </a:r>
          </a:p>
          <a:p>
            <a:pPr marL="0" indent="0" algn="r">
              <a:buNone/>
            </a:pPr>
            <a:r>
              <a:rPr lang="he-IL" sz="1600" dirty="0">
                <a:latin typeface="Assistant" pitchFamily="2" charset="-79"/>
                <a:cs typeface="Assistant" pitchFamily="2" charset="-79"/>
              </a:rPr>
              <a:t>שאלות רב-ברירה המקיפות 57 משימות שונות, כולל מתמטיקה יסודית, היסטוריה</a:t>
            </a:r>
          </a:p>
          <a:p>
            <a:pPr marL="0" indent="0" algn="r">
              <a:buNone/>
            </a:pPr>
            <a:r>
              <a:rPr lang="he-IL" sz="1600" dirty="0">
                <a:latin typeface="Assistant" pitchFamily="2" charset="-79"/>
                <a:cs typeface="Assistant" pitchFamily="2" charset="-79"/>
              </a:rPr>
              <a:t>של ארה"ב, מדעי המחשב, משפטים ועוד.</a:t>
            </a:r>
            <a:endParaRPr lang="en-US" sz="1600" dirty="0">
              <a:latin typeface="Assistant" pitchFamily="2" charset="-79"/>
              <a:cs typeface="Assistant" pitchFamily="2" charset="-79"/>
            </a:endParaRPr>
          </a:p>
          <a:p>
            <a:pPr marL="0" indent="0" algn="r">
              <a:buNone/>
            </a:pPr>
            <a:endParaRPr lang="he-IL" sz="1600" b="1" dirty="0">
              <a:latin typeface="Assistant" pitchFamily="2" charset="-79"/>
              <a:cs typeface="Assistant" pitchFamily="2" charset="-79"/>
            </a:endParaRPr>
          </a:p>
          <a:p>
            <a:pPr marL="0" indent="0" algn="r">
              <a:buNone/>
            </a:pPr>
            <a:r>
              <a:rPr lang="he-IL" sz="1600" b="1" dirty="0">
                <a:latin typeface="Assistant" pitchFamily="2" charset="-79"/>
                <a:cs typeface="Assistant" pitchFamily="2" charset="-79"/>
              </a:rPr>
              <a:t>איך מודדים ביצועים?</a:t>
            </a:r>
          </a:p>
          <a:p>
            <a:pPr algn="r" rtl="1"/>
            <a:r>
              <a:rPr lang="he-IL" sz="1600" dirty="0">
                <a:latin typeface="Assistant" pitchFamily="2" charset="-79"/>
                <a:cs typeface="Assistant" pitchFamily="2" charset="-79"/>
              </a:rPr>
              <a:t>בודק ידע והסקה בהקשר של </a:t>
            </a:r>
            <a:r>
              <a:rPr lang="en-US" sz="1600" dirty="0">
                <a:latin typeface="Assistant" pitchFamily="2" charset="-79"/>
                <a:cs typeface="Assistant" pitchFamily="2" charset="-79"/>
              </a:rPr>
              <a:t>Zero-shot</a:t>
            </a:r>
            <a:r>
              <a:rPr lang="he-IL" sz="1600" b="1" dirty="0">
                <a:latin typeface="Assistant" pitchFamily="2" charset="-79"/>
                <a:cs typeface="Assistant" pitchFamily="2" charset="-79"/>
              </a:rPr>
              <a:t> 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(ללא דוגמאות) או </a:t>
            </a:r>
            <a:r>
              <a:rPr lang="en-US" sz="1600" dirty="0">
                <a:latin typeface="Assistant" pitchFamily="2" charset="-79"/>
                <a:cs typeface="Assistant" pitchFamily="2" charset="-79"/>
              </a:rPr>
              <a:t>) Few-shot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דוגמאות בודדות)</a:t>
            </a:r>
          </a:p>
          <a:p>
            <a:pPr algn="r" rtl="1"/>
            <a:r>
              <a:rPr lang="he-IL" sz="1600" dirty="0">
                <a:latin typeface="Assistant" pitchFamily="2" charset="-79"/>
                <a:cs typeface="Assistant" pitchFamily="2" charset="-79"/>
              </a:rPr>
              <a:t>המודל נדרש לענות על שאלות עם מעט או ללא דוגמאות למשימה</a:t>
            </a:r>
          </a:p>
          <a:p>
            <a:pPr marL="0" indent="0" algn="r" rtl="1">
              <a:buNone/>
            </a:pPr>
            <a:endParaRPr lang="he-IL" sz="1600" b="1" dirty="0">
              <a:latin typeface="Assistant" pitchFamily="2" charset="-79"/>
              <a:cs typeface="Assistant" pitchFamily="2" charset="-79"/>
            </a:endParaRPr>
          </a:p>
          <a:p>
            <a:pPr marL="0" indent="0" algn="r" rtl="1">
              <a:buNone/>
            </a:pPr>
            <a:r>
              <a:rPr lang="he-IL" sz="1600" b="1" dirty="0">
                <a:latin typeface="Assistant" pitchFamily="2" charset="-79"/>
                <a:cs typeface="Assistant" pitchFamily="2" charset="-79"/>
              </a:rPr>
              <a:t>מה המבחן מבטא?</a:t>
            </a:r>
          </a:p>
          <a:p>
            <a:pPr marL="0" indent="0" algn="r" rtl="1">
              <a:buNone/>
            </a:pPr>
            <a:r>
              <a:rPr lang="he-IL" sz="1600" dirty="0">
                <a:latin typeface="Assistant" pitchFamily="2" charset="-79"/>
                <a:cs typeface="Assistant" pitchFamily="2" charset="-79"/>
              </a:rPr>
              <a:t>המבחן מודד את היכולת של המודל להבין וליישם ידע</a:t>
            </a:r>
            <a:r>
              <a:rPr lang="he-IL" sz="1600" b="1" dirty="0">
                <a:latin typeface="Assistant" pitchFamily="2" charset="-79"/>
                <a:cs typeface="Assistant" pitchFamily="2" charset="-79"/>
              </a:rPr>
              <a:t> 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כללי שנרכש בשלב האימון ובודק חוסן אינטליגנטי, ללא</a:t>
            </a:r>
            <a:r>
              <a:rPr lang="en-US" sz="1600" dirty="0">
                <a:latin typeface="Assistant" pitchFamily="2" charset="-79"/>
                <a:cs typeface="Assistant" pitchFamily="2" charset="-79"/>
              </a:rPr>
              <a:t>Fine-tuning 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 (כיוונון)</a:t>
            </a:r>
          </a:p>
          <a:p>
            <a:pPr marL="0" indent="0" algn="r" rtl="1">
              <a:buNone/>
            </a:pPr>
            <a:r>
              <a:rPr lang="he-IL" sz="1600" dirty="0">
                <a:latin typeface="Assistant" pitchFamily="2" charset="-79"/>
                <a:cs typeface="Assistant" pitchFamily="2" charset="-79"/>
              </a:rPr>
              <a:t>מפורש למשימות</a:t>
            </a:r>
          </a:p>
        </p:txBody>
      </p:sp>
    </p:spTree>
    <p:extLst>
      <p:ext uri="{BB962C8B-B14F-4D97-AF65-F5344CB8AC3E}">
        <p14:creationId xmlns:p14="http://schemas.microsoft.com/office/powerpoint/2010/main" val="43631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3857E-EE1D-469B-8C88-040191D32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effectLst/>
                <a:latin typeface="Heebo" pitchFamily="2" charset="-79"/>
                <a:ea typeface="Calibri" panose="020F0502020204030204" pitchFamily="34" charset="0"/>
                <a:cs typeface="Heebo" pitchFamily="2" charset="-79"/>
              </a:rPr>
              <a:t>GPQA</a:t>
            </a:r>
            <a:endParaRPr lang="he-IL" sz="4000" dirty="0">
              <a:latin typeface="Heebo" pitchFamily="2" charset="-79"/>
              <a:cs typeface="Heebo" pitchFamily="2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A6172-1E11-4058-AFEC-8BDE2164A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r">
              <a:buNone/>
            </a:pPr>
            <a:r>
              <a:rPr lang="he-IL" sz="1600" b="1" dirty="0">
                <a:latin typeface="Assistant" pitchFamily="2" charset="-79"/>
                <a:cs typeface="Assistant" pitchFamily="2" charset="-79"/>
              </a:rPr>
              <a:t>מה המבחן מכיל?</a:t>
            </a:r>
            <a:endParaRPr lang="en-US" sz="1600" b="1" dirty="0">
              <a:latin typeface="Assistant" pitchFamily="2" charset="-79"/>
              <a:cs typeface="Assistant" pitchFamily="2" charset="-79"/>
            </a:endParaRPr>
          </a:p>
          <a:p>
            <a:pPr marL="0" indent="0" algn="r" rtl="1">
              <a:buNone/>
            </a:pPr>
            <a:r>
              <a:rPr lang="he-IL" sz="1600" dirty="0">
                <a:latin typeface="Assistant" pitchFamily="2" charset="-79"/>
                <a:cs typeface="Assistant" pitchFamily="2" charset="-79"/>
              </a:rPr>
              <a:t>שאלות רב-ברירה מאתגרות בתחומים: ביולוגיה, פיזיקה וכימיה השאלות נכתבו על ידי מומחים (</a:t>
            </a:r>
            <a:r>
              <a:rPr lang="en-US" sz="1600" dirty="0">
                <a:latin typeface="Assistant" pitchFamily="2" charset="-79"/>
                <a:cs typeface="Assistant" pitchFamily="2" charset="-79"/>
              </a:rPr>
              <a:t>PhD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או דוקטורנטים) והן קשות מאוד,</a:t>
            </a:r>
          </a:p>
          <a:p>
            <a:pPr marL="0" indent="0" algn="r" rtl="1">
              <a:buNone/>
            </a:pPr>
            <a:r>
              <a:rPr lang="he-IL" sz="1600" dirty="0">
                <a:latin typeface="Assistant" pitchFamily="2" charset="-79"/>
                <a:cs typeface="Assistant" pitchFamily="2" charset="-79"/>
              </a:rPr>
              <a:t>גם עם גישה לאינטרנט.</a:t>
            </a:r>
          </a:p>
          <a:p>
            <a:pPr marL="0" indent="0" algn="r" rtl="1">
              <a:buNone/>
            </a:pPr>
            <a:endParaRPr lang="he-IL" sz="1050" b="1" dirty="0">
              <a:latin typeface="Assistant" pitchFamily="2" charset="-79"/>
              <a:cs typeface="Assistant" pitchFamily="2" charset="-79"/>
            </a:endParaRPr>
          </a:p>
          <a:p>
            <a:pPr marL="0" indent="0" algn="r" rtl="1">
              <a:buNone/>
            </a:pPr>
            <a:r>
              <a:rPr lang="he-IL" sz="1600" b="1" dirty="0">
                <a:latin typeface="Assistant" pitchFamily="2" charset="-79"/>
                <a:cs typeface="Assistant" pitchFamily="2" charset="-79"/>
              </a:rPr>
              <a:t>איך מודדים ביצועים?</a:t>
            </a:r>
          </a:p>
          <a:p>
            <a:pPr algn="r" rtl="1"/>
            <a:r>
              <a:rPr lang="he-IL" sz="1600" dirty="0">
                <a:latin typeface="Assistant" pitchFamily="2" charset="-79"/>
                <a:cs typeface="Assistant" pitchFamily="2" charset="-79"/>
              </a:rPr>
              <a:t>בודקים את מספר השאלות שהמודל ענה עליהן נכון.</a:t>
            </a:r>
          </a:p>
          <a:p>
            <a:pPr algn="r" rtl="1"/>
            <a:r>
              <a:rPr lang="he-IL" sz="1600" dirty="0">
                <a:latin typeface="Assistant" pitchFamily="2" charset="-79"/>
                <a:cs typeface="Assistant" pitchFamily="2" charset="-79"/>
              </a:rPr>
              <a:t>משווים את הציון לציון של מומחים.</a:t>
            </a:r>
            <a:endParaRPr lang="he-IL" sz="1600" b="1" dirty="0">
              <a:latin typeface="Assistant" pitchFamily="2" charset="-79"/>
              <a:cs typeface="Assistant" pitchFamily="2" charset="-79"/>
            </a:endParaRPr>
          </a:p>
          <a:p>
            <a:pPr marL="0" indent="0" algn="r" rtl="1">
              <a:buNone/>
            </a:pPr>
            <a:endParaRPr lang="he-IL" sz="1050" b="1" dirty="0">
              <a:latin typeface="Assistant" pitchFamily="2" charset="-79"/>
              <a:cs typeface="Assistant" pitchFamily="2" charset="-79"/>
            </a:endParaRPr>
          </a:p>
          <a:p>
            <a:pPr marL="0" indent="0" algn="r" rtl="1">
              <a:buNone/>
            </a:pPr>
            <a:r>
              <a:rPr lang="he-IL" sz="1600" b="1" dirty="0">
                <a:latin typeface="Assistant" pitchFamily="2" charset="-79"/>
                <a:cs typeface="Assistant" pitchFamily="2" charset="-79"/>
              </a:rPr>
              <a:t>מה המבחן מבטא?</a:t>
            </a:r>
          </a:p>
          <a:p>
            <a:pPr marL="0" indent="0" algn="r" rtl="1">
              <a:buNone/>
            </a:pPr>
            <a:r>
              <a:rPr lang="he-IL" sz="1600" dirty="0">
                <a:latin typeface="Assistant" pitchFamily="2" charset="-79"/>
                <a:cs typeface="Assistant" pitchFamily="2" charset="-79"/>
              </a:rPr>
              <a:t>מומחיות קיצונית וסינון של יכולות הסקה.</a:t>
            </a:r>
          </a:p>
        </p:txBody>
      </p:sp>
    </p:spTree>
    <p:extLst>
      <p:ext uri="{BB962C8B-B14F-4D97-AF65-F5344CB8AC3E}">
        <p14:creationId xmlns:p14="http://schemas.microsoft.com/office/powerpoint/2010/main" val="1306095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3857E-EE1D-469B-8C88-040191D32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 err="1">
                <a:effectLst/>
                <a:latin typeface="Heebo" pitchFamily="2" charset="-79"/>
                <a:ea typeface="Calibri" panose="020F0502020204030204" pitchFamily="34" charset="0"/>
                <a:cs typeface="Heebo" pitchFamily="2" charset="-79"/>
              </a:rPr>
              <a:t>MultilF</a:t>
            </a:r>
            <a:endParaRPr lang="he-IL" sz="4000" dirty="0">
              <a:latin typeface="Heebo" pitchFamily="2" charset="-79"/>
              <a:cs typeface="Heebo" pitchFamily="2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A6172-1E11-4058-AFEC-8BDE2164A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r">
              <a:buNone/>
            </a:pPr>
            <a:r>
              <a:rPr lang="he-IL" sz="1600" b="1" dirty="0">
                <a:latin typeface="Assistant" pitchFamily="2" charset="-79"/>
                <a:cs typeface="Assistant" pitchFamily="2" charset="-79"/>
              </a:rPr>
              <a:t>מה המבחן מכיל?</a:t>
            </a:r>
          </a:p>
          <a:p>
            <a:pPr algn="r" rtl="1"/>
            <a:r>
              <a:rPr lang="he-IL" sz="1600" dirty="0">
                <a:latin typeface="Assistant" pitchFamily="2" charset="-79"/>
                <a:cs typeface="Assistant" pitchFamily="2" charset="-79"/>
              </a:rPr>
              <a:t>מבוסס על </a:t>
            </a:r>
            <a:r>
              <a:rPr lang="en-US" sz="1600" dirty="0">
                <a:latin typeface="Assistant" pitchFamily="2" charset="-79"/>
                <a:cs typeface="Assistant" pitchFamily="2" charset="-79"/>
              </a:rPr>
              <a:t> </a:t>
            </a:r>
            <a:r>
              <a:rPr lang="en-US" sz="1600" b="1" dirty="0" err="1">
                <a:latin typeface="Assistant" pitchFamily="2" charset="-79"/>
                <a:cs typeface="Assistant" pitchFamily="2" charset="-79"/>
              </a:rPr>
              <a:t>IFEval</a:t>
            </a:r>
            <a:endParaRPr lang="he-IL" sz="1600" b="1" dirty="0">
              <a:latin typeface="Assistant" pitchFamily="2" charset="-79"/>
              <a:cs typeface="Assistant" pitchFamily="2" charset="-79"/>
            </a:endParaRPr>
          </a:p>
          <a:p>
            <a:pPr marL="0" indent="0" algn="r" rtl="1">
              <a:buNone/>
            </a:pPr>
            <a:r>
              <a:rPr lang="he-IL" sz="1600" dirty="0">
                <a:latin typeface="Assistant" pitchFamily="2" charset="-79"/>
                <a:cs typeface="Assistant" pitchFamily="2" charset="-79"/>
              </a:rPr>
              <a:t>    בודק "אילוצים ניתנים לאימות"</a:t>
            </a:r>
            <a:r>
              <a:rPr lang="en-US" sz="1600" dirty="0">
                <a:latin typeface="Assistant" pitchFamily="2" charset="-79"/>
                <a:cs typeface="Assistant" pitchFamily="2" charset="-79"/>
              </a:rPr>
              <a:t>(Verifiable Constraints) 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 כגון: "כתוב לפחות 400 מילים".</a:t>
            </a:r>
          </a:p>
          <a:p>
            <a:pPr algn="r" rtl="1"/>
            <a:r>
              <a:rPr lang="en-US" sz="1600" b="1" dirty="0">
                <a:latin typeface="Assistant" pitchFamily="2" charset="-79"/>
                <a:cs typeface="Assistant" pitchFamily="2" charset="-79"/>
              </a:rPr>
              <a:t> Multi-IF</a:t>
            </a:r>
            <a:r>
              <a:rPr lang="en-US" sz="1600" dirty="0">
                <a:latin typeface="Assistant" pitchFamily="2" charset="-79"/>
                <a:cs typeface="Assistant" pitchFamily="2" charset="-79"/>
              </a:rPr>
              <a:t> 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דורש עמידה באילוצים לאורך סיבובים </a:t>
            </a:r>
            <a:r>
              <a:rPr lang="en-US" sz="1600" dirty="0">
                <a:latin typeface="Assistant" pitchFamily="2" charset="-79"/>
                <a:cs typeface="Assistant" pitchFamily="2" charset="-79"/>
              </a:rPr>
              <a:t>Turns)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), המודל צריך לזכור את ההוראות גם כשהן מתעדכנות בין סיבובים.</a:t>
            </a:r>
          </a:p>
          <a:p>
            <a:pPr marL="0" indent="0" algn="r" rtl="1">
              <a:buNone/>
            </a:pPr>
            <a:endParaRPr lang="he-IL" sz="1050" b="1" dirty="0">
              <a:latin typeface="Assistant" pitchFamily="2" charset="-79"/>
              <a:cs typeface="Assistant" pitchFamily="2" charset="-79"/>
            </a:endParaRPr>
          </a:p>
          <a:p>
            <a:pPr marL="0" indent="0" algn="r">
              <a:buNone/>
            </a:pPr>
            <a:r>
              <a:rPr lang="he-IL" sz="1600" b="1" dirty="0">
                <a:latin typeface="Assistant" pitchFamily="2" charset="-79"/>
                <a:cs typeface="Assistant" pitchFamily="2" charset="-79"/>
              </a:rPr>
              <a:t>איך מודדים ביצועים?</a:t>
            </a:r>
          </a:p>
          <a:p>
            <a:pPr algn="r" rtl="1"/>
            <a:r>
              <a:rPr lang="he-IL" sz="1600" dirty="0">
                <a:latin typeface="Assistant" pitchFamily="2" charset="-79"/>
                <a:cs typeface="Assistant" pitchFamily="2" charset="-79"/>
              </a:rPr>
              <a:t>המערכת מריצה בדיקות קוד פשוטות על פלט המודל </a:t>
            </a:r>
          </a:p>
          <a:p>
            <a:pPr algn="r" rtl="1"/>
            <a:r>
              <a:rPr lang="he-IL" sz="1600" dirty="0">
                <a:latin typeface="Assistant" pitchFamily="2" charset="-79"/>
                <a:cs typeface="Assistant" pitchFamily="2" charset="-79"/>
              </a:rPr>
              <a:t>אין צורך בבני אדם שידרגו את התשובות</a:t>
            </a:r>
          </a:p>
          <a:p>
            <a:pPr marL="0" indent="0" algn="r" rtl="1">
              <a:buNone/>
            </a:pPr>
            <a:endParaRPr lang="he-IL" sz="1050" b="1" dirty="0">
              <a:latin typeface="Assistant" pitchFamily="2" charset="-79"/>
              <a:cs typeface="Assistant" pitchFamily="2" charset="-79"/>
            </a:endParaRPr>
          </a:p>
          <a:p>
            <a:pPr marL="0" indent="0" algn="r" rtl="1">
              <a:buNone/>
            </a:pPr>
            <a:r>
              <a:rPr lang="he-IL" sz="1600" b="1" dirty="0">
                <a:latin typeface="Assistant" pitchFamily="2" charset="-79"/>
                <a:cs typeface="Assistant" pitchFamily="2" charset="-79"/>
              </a:rPr>
              <a:t>מה המבחן מבטא?</a:t>
            </a:r>
          </a:p>
          <a:p>
            <a:pPr marL="0" indent="0" algn="r" rtl="1">
              <a:buNone/>
            </a:pPr>
            <a:r>
              <a:rPr lang="he-IL" sz="1600" dirty="0">
                <a:latin typeface="Assistant" pitchFamily="2" charset="-79"/>
                <a:cs typeface="Assistant" pitchFamily="2" charset="-79"/>
              </a:rPr>
              <a:t>המדד הזה בוחן את הקשב</a:t>
            </a:r>
            <a:r>
              <a:rPr lang="en-US" sz="1600" dirty="0">
                <a:latin typeface="Assistant" pitchFamily="2" charset="-79"/>
                <a:cs typeface="Assistant" pitchFamily="2" charset="-79"/>
              </a:rPr>
              <a:t>Attention) 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) של המודל לאורך זמן.</a:t>
            </a:r>
          </a:p>
        </p:txBody>
      </p:sp>
    </p:spTree>
    <p:extLst>
      <p:ext uri="{BB962C8B-B14F-4D97-AF65-F5344CB8AC3E}">
        <p14:creationId xmlns:p14="http://schemas.microsoft.com/office/powerpoint/2010/main" val="30460168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3857E-EE1D-469B-8C88-040191D32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effectLst/>
                <a:latin typeface="Heebo" pitchFamily="2" charset="-79"/>
                <a:ea typeface="Calibri" panose="020F0502020204030204" pitchFamily="34" charset="0"/>
                <a:cs typeface="Heebo" pitchFamily="2" charset="-79"/>
              </a:rPr>
              <a:t>MMMU</a:t>
            </a:r>
            <a:endParaRPr lang="he-IL" sz="4000" dirty="0">
              <a:latin typeface="Heebo" pitchFamily="2" charset="-79"/>
              <a:cs typeface="Heebo" pitchFamily="2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A6172-1E11-4058-AFEC-8BDE2164A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11007"/>
          </a:xfrm>
        </p:spPr>
        <p:txBody>
          <a:bodyPr>
            <a:noAutofit/>
          </a:bodyPr>
          <a:lstStyle/>
          <a:p>
            <a:pPr marL="0" indent="0" algn="r">
              <a:buNone/>
            </a:pPr>
            <a:r>
              <a:rPr lang="he-IL" sz="1600" b="1" dirty="0">
                <a:latin typeface="Assistant" pitchFamily="2" charset="-79"/>
                <a:cs typeface="Assistant" pitchFamily="2" charset="-79"/>
              </a:rPr>
              <a:t>מה המבחן מכיל?</a:t>
            </a:r>
          </a:p>
          <a:p>
            <a:pPr marL="0" indent="0" algn="r">
              <a:buNone/>
            </a:pPr>
            <a:r>
              <a:rPr lang="he-IL" sz="1600" dirty="0">
                <a:latin typeface="Assistant" pitchFamily="2" charset="-79"/>
                <a:cs typeface="Assistant" pitchFamily="2" charset="-79"/>
              </a:rPr>
              <a:t>11,500 שאלות מולטי-מודאליות שנאספו ממבחני קולג', חידונים וספרי לימוד שמכסים שישה תחומי ליבה:</a:t>
            </a:r>
          </a:p>
          <a:p>
            <a:pPr algn="r" rtl="1"/>
            <a:r>
              <a:rPr lang="he-IL" sz="1600" dirty="0">
                <a:latin typeface="Assistant" pitchFamily="2" charset="-79"/>
                <a:cs typeface="Assistant" pitchFamily="2" charset="-79"/>
              </a:rPr>
              <a:t>אמנות ועיצוב</a:t>
            </a:r>
          </a:p>
          <a:p>
            <a:pPr algn="r" rtl="1"/>
            <a:r>
              <a:rPr lang="he-IL" sz="1600" dirty="0">
                <a:latin typeface="Assistant" pitchFamily="2" charset="-79"/>
                <a:cs typeface="Assistant" pitchFamily="2" charset="-79"/>
              </a:rPr>
              <a:t>עסקים</a:t>
            </a:r>
          </a:p>
          <a:p>
            <a:pPr algn="r" rtl="1"/>
            <a:r>
              <a:rPr lang="he-IL" sz="1600" dirty="0">
                <a:latin typeface="Assistant" pitchFamily="2" charset="-79"/>
                <a:cs typeface="Assistant" pitchFamily="2" charset="-79"/>
              </a:rPr>
              <a:t>מדע</a:t>
            </a:r>
          </a:p>
          <a:p>
            <a:pPr algn="r" rtl="1"/>
            <a:r>
              <a:rPr lang="he-IL" sz="1600" dirty="0">
                <a:latin typeface="Assistant" pitchFamily="2" charset="-79"/>
                <a:cs typeface="Assistant" pitchFamily="2" charset="-79"/>
              </a:rPr>
              <a:t>בריאות ורפואה</a:t>
            </a:r>
          </a:p>
          <a:p>
            <a:pPr algn="r" rtl="1"/>
            <a:r>
              <a:rPr lang="he-IL" sz="1600" dirty="0">
                <a:latin typeface="Assistant" pitchFamily="2" charset="-79"/>
                <a:cs typeface="Assistant" pitchFamily="2" charset="-79"/>
              </a:rPr>
              <a:t>מדעי הרוח והחברה</a:t>
            </a:r>
          </a:p>
          <a:p>
            <a:pPr algn="r" rtl="1"/>
            <a:r>
              <a:rPr lang="he-IL" sz="1600" dirty="0">
                <a:latin typeface="Assistant" pitchFamily="2" charset="-79"/>
                <a:cs typeface="Assistant" pitchFamily="2" charset="-79"/>
              </a:rPr>
              <a:t>טכנולוגיה והנדסה</a:t>
            </a:r>
          </a:p>
          <a:p>
            <a:pPr marL="0" indent="0" algn="r" rtl="1">
              <a:buNone/>
            </a:pP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ssistant" pitchFamily="2" charset="-79"/>
                <a:cs typeface="Assistant" pitchFamily="2" charset="-79"/>
              </a:rPr>
              <a:t>השאלות כוללות</a:t>
            </a:r>
            <a:r>
              <a:rPr kumimoji="0" lang="he-IL" altLang="he-IL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ssistant" pitchFamily="2" charset="-79"/>
                <a:cs typeface="Assistant" pitchFamily="2" charset="-79"/>
              </a:rPr>
              <a:t> 32 סוגי תמונות הטרוגניות </a:t>
            </a: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ssistant" pitchFamily="2" charset="-79"/>
                <a:cs typeface="Assistant" pitchFamily="2" charset="-79"/>
              </a:rPr>
              <a:t>כגון תרשימים, דיאגרמות, מפות, טבלאות, דפי תווים ומבנים כימיים </a:t>
            </a:r>
            <a:endParaRPr lang="he-IL" sz="1600" b="1" dirty="0">
              <a:latin typeface="Assistant" pitchFamily="2" charset="-79"/>
              <a:cs typeface="Assistant" pitchFamily="2" charset="-79"/>
            </a:endParaRPr>
          </a:p>
          <a:p>
            <a:pPr marL="0" indent="0" algn="r">
              <a:buNone/>
            </a:pPr>
            <a:r>
              <a:rPr lang="he-IL" sz="1600" b="1" dirty="0">
                <a:latin typeface="Assistant" pitchFamily="2" charset="-79"/>
                <a:cs typeface="Assistant" pitchFamily="2" charset="-79"/>
              </a:rPr>
              <a:t>איך מודדים ביצועים?</a:t>
            </a:r>
          </a:p>
          <a:p>
            <a:pPr marL="0" indent="0" algn="r">
              <a:buNone/>
            </a:pPr>
            <a:r>
              <a:rPr lang="he-IL" sz="1600" dirty="0">
                <a:latin typeface="Assistant" pitchFamily="2" charset="-79"/>
                <a:cs typeface="Assistant" pitchFamily="2" charset="-79"/>
              </a:rPr>
              <a:t>בודקים כמה תשובות נכונות המודל ענה</a:t>
            </a:r>
          </a:p>
          <a:p>
            <a:pPr marL="0" indent="0" algn="r" rtl="1">
              <a:buNone/>
            </a:pPr>
            <a:r>
              <a:rPr lang="he-IL" sz="1600" b="1" dirty="0">
                <a:latin typeface="Assistant" pitchFamily="2" charset="-79"/>
                <a:cs typeface="Assistant" pitchFamily="2" charset="-79"/>
              </a:rPr>
              <a:t>מה המבחן מבטא?</a:t>
            </a:r>
          </a:p>
          <a:p>
            <a:pPr marL="0" indent="0" algn="r" rtl="1">
              <a:buNone/>
            </a:pPr>
            <a:r>
              <a:rPr lang="he-IL" sz="1600" dirty="0">
                <a:latin typeface="Assistant" pitchFamily="2" charset="-79"/>
                <a:cs typeface="Assistant" pitchFamily="2" charset="-79"/>
              </a:rPr>
              <a:t>בודק את היכולת של המודל לשלב ידע אקדמי עם פענוח תרשימים ומבנים גרפיים</a:t>
            </a:r>
          </a:p>
        </p:txBody>
      </p:sp>
    </p:spTree>
    <p:extLst>
      <p:ext uri="{BB962C8B-B14F-4D97-AF65-F5344CB8AC3E}">
        <p14:creationId xmlns:p14="http://schemas.microsoft.com/office/powerpoint/2010/main" val="32699017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3857E-EE1D-469B-8C88-040191D32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effectLst/>
                <a:latin typeface="Heebo" pitchFamily="2" charset="-79"/>
                <a:ea typeface="Calibri" panose="020F0502020204030204" pitchFamily="34" charset="0"/>
                <a:cs typeface="Heebo" pitchFamily="2" charset="-79"/>
              </a:rPr>
              <a:t>Tensor Parallelism</a:t>
            </a:r>
            <a:endParaRPr lang="he-IL" sz="4000" dirty="0">
              <a:latin typeface="Heebo" pitchFamily="2" charset="-79"/>
              <a:cs typeface="Heebo" pitchFamily="2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A6172-1E11-4058-AFEC-8BDE2164A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11007"/>
          </a:xfrm>
        </p:spPr>
        <p:txBody>
          <a:bodyPr>
            <a:noAutofit/>
          </a:bodyPr>
          <a:lstStyle/>
          <a:p>
            <a:pPr marL="0" indent="0" algn="r" rtl="1">
              <a:buNone/>
            </a:pPr>
            <a:r>
              <a:rPr lang="he-IL" sz="1600" b="1" dirty="0">
                <a:latin typeface="Assistant" pitchFamily="2" charset="-79"/>
                <a:cs typeface="Assistant" pitchFamily="2" charset="-79"/>
              </a:rPr>
              <a:t>מה זה?</a:t>
            </a:r>
          </a:p>
          <a:p>
            <a:pPr marL="0" indent="0" algn="r" rtl="1">
              <a:buNone/>
            </a:pPr>
            <a:r>
              <a:rPr lang="he-IL" sz="1600" dirty="0">
                <a:latin typeface="Assistant" pitchFamily="2" charset="-79"/>
                <a:cs typeface="Assistant" pitchFamily="2" charset="-79"/>
              </a:rPr>
              <a:t>שיטה לביזור מודלי ענק על פני מספר</a:t>
            </a:r>
            <a:r>
              <a:rPr lang="en-US" sz="1600" dirty="0">
                <a:latin typeface="Assistant" pitchFamily="2" charset="-79"/>
                <a:cs typeface="Assistant" pitchFamily="2" charset="-79"/>
              </a:rPr>
              <a:t>GPUs 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 על ידי פיצול פעולות חשבוניות בודדות (מטריצות).</a:t>
            </a:r>
          </a:p>
          <a:p>
            <a:pPr marL="0" indent="0" algn="r" rtl="1">
              <a:buNone/>
            </a:pPr>
            <a:endParaRPr lang="he-IL" sz="1050" dirty="0">
              <a:latin typeface="Assistant" pitchFamily="2" charset="-79"/>
              <a:cs typeface="Assistant" pitchFamily="2" charset="-79"/>
            </a:endParaRPr>
          </a:p>
          <a:p>
            <a:pPr marL="0" indent="0" algn="r" rtl="1">
              <a:buNone/>
            </a:pPr>
            <a:r>
              <a:rPr lang="he-IL" sz="1600" b="1" dirty="0">
                <a:latin typeface="Assistant" pitchFamily="2" charset="-79"/>
                <a:cs typeface="Assistant" pitchFamily="2" charset="-79"/>
              </a:rPr>
              <a:t>איך זה עובד?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1600" b="1" dirty="0">
                <a:latin typeface="Assistant" pitchFamily="2" charset="-79"/>
                <a:cs typeface="Assistant" pitchFamily="2" charset="-79"/>
              </a:rPr>
              <a:t>פיצול עמודות: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 טנזור המשקולות נחתך לאורך ומחולק בין הכרטיסים.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1600" b="1" dirty="0">
                <a:latin typeface="Assistant" pitchFamily="2" charset="-79"/>
                <a:cs typeface="Assistant" pitchFamily="2" charset="-79"/>
              </a:rPr>
              <a:t>חישוב מקבילי: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 כל </a:t>
            </a:r>
            <a:r>
              <a:rPr lang="en-US" sz="1600" dirty="0">
                <a:latin typeface="Assistant" pitchFamily="2" charset="-79"/>
                <a:cs typeface="Assistant" pitchFamily="2" charset="-79"/>
              </a:rPr>
              <a:t> GPU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מבצע חישוב על חלקו בנפרד ובאותו הזמן.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1600" b="1" dirty="0">
                <a:latin typeface="Assistant" pitchFamily="2" charset="-79"/>
                <a:cs typeface="Assistant" pitchFamily="2" charset="-79"/>
              </a:rPr>
              <a:t>סנכרון מהיר: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 התוצאות מכל הכרטיסים "משורשרות"</a:t>
            </a:r>
            <a:r>
              <a:rPr lang="en-US" sz="1600" dirty="0">
                <a:latin typeface="Assistant" pitchFamily="2" charset="-79"/>
                <a:cs typeface="Assistant" pitchFamily="2" charset="-79"/>
              </a:rPr>
              <a:t>(Concatenated) 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 לקבלת הפלט הסופי.</a:t>
            </a:r>
          </a:p>
          <a:p>
            <a:pPr marL="0" indent="0" algn="r">
              <a:buNone/>
            </a:pPr>
            <a:endParaRPr lang="en-US" sz="1050" dirty="0">
              <a:latin typeface="Assistant" pitchFamily="2" charset="-79"/>
              <a:cs typeface="Assistant" pitchFamily="2" charset="-79"/>
            </a:endParaRPr>
          </a:p>
          <a:p>
            <a:pPr marL="0" indent="0" algn="r">
              <a:buNone/>
            </a:pPr>
            <a:r>
              <a:rPr lang="he-IL" sz="1600" b="1" dirty="0">
                <a:latin typeface="Assistant" pitchFamily="2" charset="-79"/>
                <a:cs typeface="Assistant" pitchFamily="2" charset="-79"/>
              </a:rPr>
              <a:t>מתי כדאי לבחור בשיטה הזו?</a:t>
            </a:r>
            <a:endParaRPr lang="en-US" sz="1600" b="1" dirty="0">
              <a:latin typeface="Assistant" pitchFamily="2" charset="-79"/>
              <a:cs typeface="Assistant" pitchFamily="2" charset="-79"/>
            </a:endParaRPr>
          </a:p>
          <a:p>
            <a:pPr algn="r" rtl="1"/>
            <a:r>
              <a:rPr lang="he-IL" sz="1600" b="1" dirty="0">
                <a:latin typeface="Assistant" pitchFamily="2" charset="-79"/>
                <a:cs typeface="Assistant" pitchFamily="2" charset="-79"/>
              </a:rPr>
              <a:t>דרישה לזמן תגובה מהיר </a:t>
            </a:r>
            <a:r>
              <a:rPr lang="en-US" sz="1600" b="1" dirty="0">
                <a:latin typeface="Assistant" pitchFamily="2" charset="-79"/>
                <a:cs typeface="Assistant" pitchFamily="2" charset="-79"/>
              </a:rPr>
              <a:t>Low Latency)</a:t>
            </a:r>
            <a:r>
              <a:rPr lang="he-IL" sz="1600" b="1" dirty="0">
                <a:latin typeface="Assistant" pitchFamily="2" charset="-79"/>
                <a:cs typeface="Assistant" pitchFamily="2" charset="-79"/>
              </a:rPr>
              <a:t>):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 כשבונים אפליקציה שדורשת תגובה מהירה, כמו </a:t>
            </a:r>
            <a:r>
              <a:rPr lang="en-US" sz="1600" dirty="0">
                <a:latin typeface="Assistant" pitchFamily="2" charset="-79"/>
                <a:cs typeface="Assistant" pitchFamily="2" charset="-79"/>
              </a:rPr>
              <a:t>Chatbot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, </a:t>
            </a:r>
            <a:r>
              <a:rPr lang="en-US" sz="1600" dirty="0">
                <a:latin typeface="Assistant" pitchFamily="2" charset="-79"/>
                <a:cs typeface="Assistant" pitchFamily="2" charset="-79"/>
              </a:rPr>
              <a:t> TP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עדיף על שיטות פיצול</a:t>
            </a:r>
          </a:p>
          <a:p>
            <a:pPr marL="0" indent="0" algn="r" rtl="1">
              <a:buNone/>
            </a:pPr>
            <a:r>
              <a:rPr lang="he-IL" sz="1600" dirty="0">
                <a:latin typeface="Assistant" pitchFamily="2" charset="-79"/>
                <a:cs typeface="Assistant" pitchFamily="2" charset="-79"/>
              </a:rPr>
              <a:t>    אחרות כי הוא לא יוצר "צווארי בקבוק" של המתנה בין שכבות.</a:t>
            </a:r>
          </a:p>
          <a:p>
            <a:pPr algn="r" rtl="1"/>
            <a:r>
              <a:rPr lang="he-IL" sz="1600" b="1" dirty="0">
                <a:latin typeface="Assistant" pitchFamily="2" charset="-79"/>
                <a:cs typeface="Assistant" pitchFamily="2" charset="-79"/>
              </a:rPr>
              <a:t>שימוש ב-</a:t>
            </a:r>
            <a:r>
              <a:rPr lang="en-US" sz="1600" b="1" dirty="0">
                <a:latin typeface="Assistant" pitchFamily="2" charset="-79"/>
                <a:cs typeface="Assistant" pitchFamily="2" charset="-79"/>
              </a:rPr>
              <a:t>Framework</a:t>
            </a:r>
            <a:r>
              <a:rPr lang="he-IL" sz="1600" b="1" dirty="0">
                <a:latin typeface="Assistant" pitchFamily="2" charset="-79"/>
                <a:cs typeface="Assistant" pitchFamily="2" charset="-79"/>
              </a:rPr>
              <a:t> תומך: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 דאי לבחור בשיטה כשעובדים עם ספריות כמו</a:t>
            </a:r>
            <a:r>
              <a:rPr lang="en-US" sz="1600" dirty="0" err="1">
                <a:latin typeface="Assistant" pitchFamily="2" charset="-79"/>
                <a:cs typeface="Assistant" pitchFamily="2" charset="-79"/>
              </a:rPr>
              <a:t>vLLM</a:t>
            </a:r>
            <a:r>
              <a:rPr lang="en-US" sz="1600" dirty="0">
                <a:latin typeface="Assistant" pitchFamily="2" charset="-79"/>
                <a:cs typeface="Assistant" pitchFamily="2" charset="-79"/>
              </a:rPr>
              <a:t> ,NVIDIA </a:t>
            </a:r>
            <a:r>
              <a:rPr lang="en-US" sz="1600" dirty="0" err="1">
                <a:latin typeface="Assistant" pitchFamily="2" charset="-79"/>
                <a:cs typeface="Assistant" pitchFamily="2" charset="-79"/>
              </a:rPr>
              <a:t>FasterTransformer</a:t>
            </a:r>
            <a:r>
              <a:rPr lang="en-US" sz="1600" dirty="0">
                <a:latin typeface="Assistant" pitchFamily="2" charset="-79"/>
                <a:cs typeface="Assistant" pitchFamily="2" charset="-79"/>
              </a:rPr>
              <a:t> 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 או</a:t>
            </a:r>
          </a:p>
          <a:p>
            <a:pPr marL="0" indent="0" algn="r" rtl="1">
              <a:buNone/>
            </a:pPr>
            <a:r>
              <a:rPr lang="he-IL" sz="1600" dirty="0">
                <a:latin typeface="Assistant" pitchFamily="2" charset="-79"/>
                <a:cs typeface="Assistant" pitchFamily="2" charset="-79"/>
              </a:rPr>
              <a:t>    </a:t>
            </a:r>
            <a:r>
              <a:rPr lang="en-US" sz="1600" dirty="0">
                <a:latin typeface="Assistant" pitchFamily="2" charset="-79"/>
                <a:cs typeface="Assistant" pitchFamily="2" charset="-79"/>
              </a:rPr>
              <a:t>,Megatron-LM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 שמבצעות את הפיצול באופן אופטימלי.</a:t>
            </a:r>
            <a:endParaRPr lang="he-IL" sz="1600" b="1" dirty="0">
              <a:latin typeface="Assistant" pitchFamily="2" charset="-79"/>
              <a:cs typeface="Assistant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6690204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3857E-EE1D-469B-8C88-040191D32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effectLst/>
                <a:latin typeface="Heebo" pitchFamily="2" charset="-79"/>
                <a:ea typeface="Calibri" panose="020F0502020204030204" pitchFamily="34" charset="0"/>
                <a:cs typeface="Heebo" pitchFamily="2" charset="-79"/>
              </a:rPr>
              <a:t>Data Parallelism</a:t>
            </a:r>
            <a:endParaRPr lang="he-IL" sz="4000" dirty="0">
              <a:latin typeface="Heebo" pitchFamily="2" charset="-79"/>
              <a:cs typeface="Heebo" pitchFamily="2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A6172-1E11-4058-AFEC-8BDE2164A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11007"/>
          </a:xfrm>
        </p:spPr>
        <p:txBody>
          <a:bodyPr>
            <a:noAutofit/>
          </a:bodyPr>
          <a:lstStyle/>
          <a:p>
            <a:pPr marL="0" indent="0" algn="r" rtl="1">
              <a:buNone/>
            </a:pPr>
            <a:r>
              <a:rPr lang="he-IL" sz="1600" b="1" dirty="0">
                <a:latin typeface="Assistant" pitchFamily="2" charset="-79"/>
                <a:cs typeface="Assistant" pitchFamily="2" charset="-79"/>
              </a:rPr>
              <a:t>מה זה?</a:t>
            </a:r>
          </a:p>
          <a:p>
            <a:pPr marL="0" indent="0" algn="r" rtl="1">
              <a:buNone/>
            </a:pPr>
            <a:r>
              <a:rPr lang="he-IL" sz="1600" dirty="0">
                <a:latin typeface="Assistant" pitchFamily="2" charset="-79"/>
                <a:cs typeface="Assistant" pitchFamily="2" charset="-79"/>
              </a:rPr>
              <a:t>שיטה להאצת עיבוד על ידי שכפול המודל המלא על פני מספר</a:t>
            </a:r>
            <a:r>
              <a:rPr lang="en-US" sz="1600" dirty="0">
                <a:latin typeface="Assistant" pitchFamily="2" charset="-79"/>
                <a:cs typeface="Assistant" pitchFamily="2" charset="-79"/>
              </a:rPr>
              <a:t> GPUs 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וחלוקת הנתונים (הקלט) ביניהם.</a:t>
            </a:r>
          </a:p>
          <a:p>
            <a:pPr marL="0" indent="0" algn="r" rtl="1">
              <a:buNone/>
            </a:pPr>
            <a:endParaRPr lang="he-IL" sz="1050" dirty="0">
              <a:latin typeface="Assistant" pitchFamily="2" charset="-79"/>
              <a:cs typeface="Assistant" pitchFamily="2" charset="-79"/>
            </a:endParaRPr>
          </a:p>
          <a:p>
            <a:pPr marL="0" indent="0" algn="r" rtl="1">
              <a:buNone/>
            </a:pPr>
            <a:r>
              <a:rPr lang="he-IL" sz="1600" b="1" dirty="0">
                <a:latin typeface="Assistant" pitchFamily="2" charset="-79"/>
                <a:cs typeface="Assistant" pitchFamily="2" charset="-79"/>
              </a:rPr>
              <a:t>איך זה עובד?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1600" b="1" dirty="0">
                <a:latin typeface="Assistant" pitchFamily="2" charset="-79"/>
                <a:cs typeface="Assistant" pitchFamily="2" charset="-79"/>
              </a:rPr>
              <a:t>שכפול המודל: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 כל</a:t>
            </a:r>
            <a:r>
              <a:rPr lang="en-US" sz="1600" dirty="0">
                <a:latin typeface="Assistant" pitchFamily="2" charset="-79"/>
                <a:cs typeface="Assistant" pitchFamily="2" charset="-79"/>
              </a:rPr>
              <a:t>GPU 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 מחזיק עותק זהה ומלא של המודל.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1600" b="1" dirty="0">
                <a:latin typeface="Assistant" pitchFamily="2" charset="-79"/>
                <a:cs typeface="Assistant" pitchFamily="2" charset="-79"/>
              </a:rPr>
              <a:t>חלוקת הנתונים</a:t>
            </a:r>
            <a:r>
              <a:rPr lang="en-US" sz="1600" b="1" dirty="0">
                <a:latin typeface="Assistant" pitchFamily="2" charset="-79"/>
                <a:cs typeface="Assistant" pitchFamily="2" charset="-79"/>
              </a:rPr>
              <a:t> :(</a:t>
            </a:r>
            <a:r>
              <a:rPr lang="en-US" sz="1600" b="1" dirty="0" err="1">
                <a:latin typeface="Assistant" pitchFamily="2" charset="-79"/>
                <a:cs typeface="Assistant" pitchFamily="2" charset="-79"/>
              </a:rPr>
              <a:t>Sharding</a:t>
            </a:r>
            <a:r>
              <a:rPr lang="en-US" sz="1600" b="1" dirty="0">
                <a:latin typeface="Assistant" pitchFamily="2" charset="-79"/>
                <a:cs typeface="Assistant" pitchFamily="2" charset="-79"/>
              </a:rPr>
              <a:t>)</a:t>
            </a:r>
            <a:r>
              <a:rPr lang="en-US" sz="1600" dirty="0">
                <a:latin typeface="Assistant" pitchFamily="2" charset="-79"/>
                <a:cs typeface="Assistant" pitchFamily="2" charset="-79"/>
              </a:rPr>
              <a:t> 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חבילת הנתונים הגדולה</a:t>
            </a:r>
            <a:r>
              <a:rPr lang="en-US" sz="1600" dirty="0">
                <a:latin typeface="Assistant" pitchFamily="2" charset="-79"/>
                <a:cs typeface="Assistant" pitchFamily="2" charset="-79"/>
              </a:rPr>
              <a:t>Batch) 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) מתחלקת לתתי-חבילות קטנות.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1600" b="1" dirty="0">
                <a:latin typeface="Assistant" pitchFamily="2" charset="-79"/>
                <a:cs typeface="Assistant" pitchFamily="2" charset="-79"/>
              </a:rPr>
              <a:t>עיבוד עצמאי: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 כל </a:t>
            </a:r>
            <a:r>
              <a:rPr lang="en-US" sz="1600" dirty="0">
                <a:latin typeface="Assistant" pitchFamily="2" charset="-79"/>
                <a:cs typeface="Assistant" pitchFamily="2" charset="-79"/>
              </a:rPr>
              <a:t> GPU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מעבד את חלקו בנתונים בו-זמנית ללא תלות באחרים.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1600" b="1" dirty="0">
                <a:latin typeface="Assistant" pitchFamily="2" charset="-79"/>
                <a:cs typeface="Assistant" pitchFamily="2" charset="-79"/>
              </a:rPr>
              <a:t>איסוף</a:t>
            </a:r>
            <a:r>
              <a:rPr lang="en-US" sz="1600" b="1" dirty="0">
                <a:latin typeface="Assistant" pitchFamily="2" charset="-79"/>
                <a:cs typeface="Assistant" pitchFamily="2" charset="-79"/>
              </a:rPr>
              <a:t> :(Aggregation)</a:t>
            </a:r>
            <a:r>
              <a:rPr lang="en-US" sz="1600" dirty="0">
                <a:latin typeface="Assistant" pitchFamily="2" charset="-79"/>
                <a:cs typeface="Assistant" pitchFamily="2" charset="-79"/>
              </a:rPr>
              <a:t> 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בסיום הפעולה, התוצאות מכל הכרטיסים נאספות לפלט אחד סופי.</a:t>
            </a:r>
          </a:p>
          <a:p>
            <a:pPr marL="0" indent="0" algn="r" rtl="1">
              <a:buNone/>
            </a:pPr>
            <a:endParaRPr lang="en-US" sz="1050" dirty="0">
              <a:latin typeface="Assistant" pitchFamily="2" charset="-79"/>
              <a:cs typeface="Assistant" pitchFamily="2" charset="-79"/>
            </a:endParaRPr>
          </a:p>
          <a:p>
            <a:pPr marL="0" indent="0" algn="r">
              <a:buNone/>
            </a:pPr>
            <a:r>
              <a:rPr lang="he-IL" sz="1600" b="1" dirty="0">
                <a:latin typeface="Assistant" pitchFamily="2" charset="-79"/>
                <a:cs typeface="Assistant" pitchFamily="2" charset="-79"/>
              </a:rPr>
              <a:t>מתי כדאי לבחור בשיטה הזו?</a:t>
            </a:r>
            <a:endParaRPr lang="en-US" sz="1600" b="1" dirty="0">
              <a:latin typeface="Assistant" pitchFamily="2" charset="-79"/>
              <a:cs typeface="Assistant" pitchFamily="2" charset="-79"/>
            </a:endParaRPr>
          </a:p>
          <a:p>
            <a:pPr algn="r" rtl="1"/>
            <a:r>
              <a:rPr lang="he-IL" sz="1600" b="1" dirty="0">
                <a:latin typeface="Assistant" pitchFamily="2" charset="-79"/>
                <a:cs typeface="Assistant" pitchFamily="2" charset="-79"/>
              </a:rPr>
              <a:t>עומס נתונים גבוה: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 כשיש הרבה נתונים (מיליוני שורות, תמונות או טקסטים) ויש צורך להאיץ את זמן העיבוד.</a:t>
            </a:r>
          </a:p>
          <a:p>
            <a:pPr algn="r" rtl="1"/>
            <a:r>
              <a:rPr lang="he-IL" sz="1600" b="1" dirty="0">
                <a:latin typeface="Assistant" pitchFamily="2" charset="-79"/>
                <a:cs typeface="Assistant" pitchFamily="2" charset="-79"/>
              </a:rPr>
              <a:t>חיסכון בתקשורת: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 בניגוד ל-</a:t>
            </a:r>
            <a:r>
              <a:rPr lang="en-US" sz="1600" dirty="0">
                <a:latin typeface="Assistant" pitchFamily="2" charset="-79"/>
                <a:cs typeface="Assistant" pitchFamily="2" charset="-79"/>
              </a:rPr>
              <a:t>Tensor Parallelism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, כאן ה-</a:t>
            </a:r>
            <a:r>
              <a:rPr lang="en-US" sz="1600" dirty="0">
                <a:latin typeface="Assistant" pitchFamily="2" charset="-79"/>
                <a:cs typeface="Assistant" pitchFamily="2" charset="-79"/>
              </a:rPr>
              <a:t>GPUs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 לא צריכים לתקשר ביניהם בזמן החישוב, מה שמפחית את התלות</a:t>
            </a:r>
          </a:p>
          <a:p>
            <a:pPr marL="0" indent="0" algn="r" rtl="1">
              <a:buNone/>
            </a:pPr>
            <a:r>
              <a:rPr lang="he-IL" sz="1600" dirty="0">
                <a:latin typeface="Assistant" pitchFamily="2" charset="-79"/>
                <a:cs typeface="Assistant" pitchFamily="2" charset="-79"/>
              </a:rPr>
              <a:t>   במהירות החיבור בין הכרטיסים.</a:t>
            </a:r>
          </a:p>
        </p:txBody>
      </p:sp>
    </p:spTree>
    <p:extLst>
      <p:ext uri="{BB962C8B-B14F-4D97-AF65-F5344CB8AC3E}">
        <p14:creationId xmlns:p14="http://schemas.microsoft.com/office/powerpoint/2010/main" val="9183533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3857E-EE1D-469B-8C88-040191D32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>
                <a:effectLst/>
                <a:latin typeface="Heebo" pitchFamily="2" charset="-79"/>
                <a:ea typeface="Calibri" panose="020F0502020204030204" pitchFamily="34" charset="0"/>
                <a:cs typeface="Heebo" pitchFamily="2" charset="-79"/>
              </a:rPr>
              <a:t>Pipeline </a:t>
            </a:r>
            <a:r>
              <a:rPr lang="en-US" sz="4000" dirty="0">
                <a:effectLst/>
                <a:latin typeface="Heebo" pitchFamily="2" charset="-79"/>
                <a:ea typeface="Calibri" panose="020F0502020204030204" pitchFamily="34" charset="0"/>
                <a:cs typeface="Heebo" pitchFamily="2" charset="-79"/>
              </a:rPr>
              <a:t>Parallelism</a:t>
            </a:r>
            <a:endParaRPr lang="he-IL" sz="4000" dirty="0">
              <a:latin typeface="Heebo" pitchFamily="2" charset="-79"/>
              <a:cs typeface="Heebo" pitchFamily="2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A6172-1E11-4058-AFEC-8BDE2164A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11007"/>
          </a:xfrm>
        </p:spPr>
        <p:txBody>
          <a:bodyPr>
            <a:noAutofit/>
          </a:bodyPr>
          <a:lstStyle/>
          <a:p>
            <a:pPr marL="0" indent="0" algn="r" rtl="1">
              <a:buNone/>
            </a:pPr>
            <a:r>
              <a:rPr lang="he-IL" sz="1600" b="1" dirty="0">
                <a:latin typeface="Assistant" pitchFamily="2" charset="-79"/>
                <a:cs typeface="Assistant" pitchFamily="2" charset="-79"/>
              </a:rPr>
              <a:t>מה זה?</a:t>
            </a:r>
          </a:p>
          <a:p>
            <a:pPr marL="0" indent="0" algn="r" rtl="1">
              <a:buNone/>
            </a:pPr>
            <a:r>
              <a:rPr lang="he-IL" sz="1600" dirty="0">
                <a:latin typeface="Assistant" pitchFamily="2" charset="-79"/>
                <a:cs typeface="Assistant" pitchFamily="2" charset="-79"/>
              </a:rPr>
              <a:t>שיטת פיצול מודל שבה שכבות המודל מחולקות ברצף בין מספר</a:t>
            </a:r>
            <a:r>
              <a:rPr lang="en-US" sz="1600" dirty="0">
                <a:latin typeface="Assistant" pitchFamily="2" charset="-79"/>
                <a:cs typeface="Assistant" pitchFamily="2" charset="-79"/>
              </a:rPr>
              <a:t>GPUs 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, כך שכל כרטיס מהווה "תחנה" בשרשרת העיבוד, והמידע עובר</a:t>
            </a:r>
          </a:p>
          <a:p>
            <a:pPr marL="0" indent="0" algn="r" rtl="1">
              <a:buNone/>
            </a:pPr>
            <a:r>
              <a:rPr lang="he-IL" sz="1600" dirty="0">
                <a:latin typeface="Assistant" pitchFamily="2" charset="-79"/>
                <a:cs typeface="Assistant" pitchFamily="2" charset="-79"/>
              </a:rPr>
              <a:t>ביניהם בסדר כרונולוגי.</a:t>
            </a:r>
          </a:p>
          <a:p>
            <a:pPr marL="0" indent="0" algn="r" rtl="1">
              <a:buNone/>
            </a:pPr>
            <a:endParaRPr lang="he-IL" sz="1050" b="1" dirty="0">
              <a:latin typeface="Assistant" pitchFamily="2" charset="-79"/>
              <a:cs typeface="Assistant" pitchFamily="2" charset="-79"/>
            </a:endParaRPr>
          </a:p>
          <a:p>
            <a:pPr marL="0" indent="0" algn="r" rtl="1">
              <a:buNone/>
            </a:pPr>
            <a:r>
              <a:rPr lang="he-IL" sz="1600" b="1" dirty="0">
                <a:latin typeface="Assistant" pitchFamily="2" charset="-79"/>
                <a:cs typeface="Assistant" pitchFamily="2" charset="-79"/>
              </a:rPr>
              <a:t>איך זה עובד?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1600" b="1" dirty="0">
                <a:latin typeface="Assistant" pitchFamily="2" charset="-79"/>
                <a:cs typeface="Assistant" pitchFamily="2" charset="-79"/>
              </a:rPr>
              <a:t>חלוקת שכבות: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 המודל מחולק לשכבות שנחלקות בין ה-</a:t>
            </a:r>
            <a:r>
              <a:rPr lang="en-US" sz="1600" dirty="0">
                <a:latin typeface="Assistant" pitchFamily="2" charset="-79"/>
                <a:cs typeface="Assistant" pitchFamily="2" charset="-79"/>
              </a:rPr>
              <a:t>GPUs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kumimoji="0" lang="he-IL" altLang="he-IL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ssistant" pitchFamily="2" charset="-79"/>
                <a:cs typeface="Assistant" pitchFamily="2" charset="-79"/>
              </a:rPr>
              <a:t>זרימה טורית:</a:t>
            </a: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ssistant" pitchFamily="2" charset="-79"/>
                <a:cs typeface="Assistant" pitchFamily="2" charset="-79"/>
              </a:rPr>
              <a:t> המידע עובר מ-GPU ל-GPU בסדר כרונולוגי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, כשכל </a:t>
            </a:r>
            <a:r>
              <a:rPr lang="en-US" sz="1600" dirty="0">
                <a:latin typeface="Assistant" pitchFamily="2" charset="-79"/>
                <a:cs typeface="Assistant" pitchFamily="2" charset="-79"/>
              </a:rPr>
              <a:t>GPU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 מעבד חלק מהמודל</a:t>
            </a:r>
            <a:r>
              <a:rPr kumimoji="0" lang="he-IL" altLang="he-I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ssistant" pitchFamily="2" charset="-79"/>
                <a:cs typeface="Assistant" pitchFamily="2" charset="-79"/>
              </a:rPr>
              <a:t>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en-US" sz="1600" b="1" dirty="0">
                <a:latin typeface="Assistant" pitchFamily="2" charset="-79"/>
                <a:cs typeface="Assistant" pitchFamily="2" charset="-79"/>
              </a:rPr>
              <a:t> :Micro-batching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הזנת נתונים ב"מנות קטנות" כדי לשמור על כל הכרטיסים פעילים בו-זמנית.</a:t>
            </a:r>
            <a:endParaRPr lang="en-US" sz="1600" dirty="0">
              <a:latin typeface="Assistant" pitchFamily="2" charset="-79"/>
              <a:cs typeface="Assistant" pitchFamily="2" charset="-79"/>
            </a:endParaRPr>
          </a:p>
          <a:p>
            <a:pPr marL="0" indent="0" algn="r">
              <a:buNone/>
            </a:pPr>
            <a:endParaRPr lang="he-IL" sz="1050" b="1" dirty="0">
              <a:latin typeface="Assistant" pitchFamily="2" charset="-79"/>
              <a:cs typeface="Assistant" pitchFamily="2" charset="-79"/>
            </a:endParaRPr>
          </a:p>
          <a:p>
            <a:pPr marL="0" indent="0" algn="r">
              <a:buNone/>
            </a:pPr>
            <a:r>
              <a:rPr lang="he-IL" sz="1600" b="1" dirty="0">
                <a:latin typeface="Assistant" pitchFamily="2" charset="-79"/>
                <a:cs typeface="Assistant" pitchFamily="2" charset="-79"/>
              </a:rPr>
              <a:t>מתי כדאי לבחור בשיטה הזו?</a:t>
            </a:r>
            <a:endParaRPr lang="en-US" sz="1600" b="1" dirty="0">
              <a:latin typeface="Assistant" pitchFamily="2" charset="-79"/>
              <a:cs typeface="Assistant" pitchFamily="2" charset="-79"/>
            </a:endParaRPr>
          </a:p>
          <a:p>
            <a:pPr algn="r" rtl="1"/>
            <a:r>
              <a:rPr lang="he-IL" sz="1600" b="1" dirty="0">
                <a:latin typeface="Assistant" pitchFamily="2" charset="-79"/>
                <a:cs typeface="Assistant" pitchFamily="2" charset="-79"/>
              </a:rPr>
              <a:t>מודלים עם עומק רב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: כאשר המודל כולל הרבה שכבות, מה שמקשה על פיצול כל שכבה בנפרד.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1600" b="1" dirty="0">
                <a:latin typeface="Assistant" pitchFamily="2" charset="-79"/>
                <a:cs typeface="Assistant" pitchFamily="2" charset="-79"/>
              </a:rPr>
              <a:t>תקשורת איטית בין ה-</a:t>
            </a:r>
            <a:r>
              <a:rPr lang="en-US" sz="1600" b="1" dirty="0">
                <a:latin typeface="Assistant" pitchFamily="2" charset="-79"/>
                <a:cs typeface="Assistant" pitchFamily="2" charset="-79"/>
              </a:rPr>
              <a:t> :GPUs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כשאין חיבורי</a:t>
            </a:r>
            <a:r>
              <a:rPr lang="en-US" sz="1600" dirty="0" err="1">
                <a:latin typeface="Assistant" pitchFamily="2" charset="-79"/>
                <a:cs typeface="Assistant" pitchFamily="2" charset="-79"/>
              </a:rPr>
              <a:t>NVLink</a:t>
            </a:r>
            <a:r>
              <a:rPr lang="en-US" sz="1600" dirty="0">
                <a:latin typeface="Assistant" pitchFamily="2" charset="-79"/>
                <a:cs typeface="Assistant" pitchFamily="2" charset="-79"/>
              </a:rPr>
              <a:t> 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 מהירים,</a:t>
            </a:r>
            <a:r>
              <a:rPr lang="en-US" sz="1600" dirty="0">
                <a:latin typeface="Assistant" pitchFamily="2" charset="-79"/>
                <a:cs typeface="Assistant" pitchFamily="2" charset="-79"/>
              </a:rPr>
              <a:t> Pipeline Parallelism 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עדיפה כי היא מעבירה פחות נתונים בין ה-</a:t>
            </a:r>
            <a:r>
              <a:rPr lang="en-US" sz="1600" dirty="0">
                <a:latin typeface="Assistant" pitchFamily="2" charset="-79"/>
                <a:cs typeface="Assistant" pitchFamily="2" charset="-79"/>
              </a:rPr>
              <a:t>GPUs</a:t>
            </a:r>
          </a:p>
          <a:p>
            <a:pPr marL="0" indent="0" algn="r" rtl="1">
              <a:buNone/>
            </a:pPr>
            <a:r>
              <a:rPr lang="he-IL" sz="1600" dirty="0">
                <a:latin typeface="Assistant" pitchFamily="2" charset="-79"/>
                <a:cs typeface="Assistant" pitchFamily="2" charset="-79"/>
              </a:rPr>
              <a:t>    בהשוואה ל-</a:t>
            </a:r>
            <a:r>
              <a:rPr lang="en-US" sz="1600" dirty="0">
                <a:latin typeface="Assistant" pitchFamily="2" charset="-79"/>
                <a:cs typeface="Assistant" pitchFamily="2" charset="-79"/>
              </a:rPr>
              <a:t>Tensor Parallelism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.</a:t>
            </a:r>
            <a:endParaRPr lang="en-US" sz="1600" dirty="0">
              <a:latin typeface="Assistant" pitchFamily="2" charset="-79"/>
              <a:cs typeface="Assistant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7980451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3857E-EE1D-469B-8C88-040191D32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he-IL" sz="4000" dirty="0">
                <a:effectLst/>
                <a:latin typeface="Heebo" pitchFamily="2" charset="-79"/>
                <a:ea typeface="Calibri" panose="020F0502020204030204" pitchFamily="34" charset="0"/>
                <a:cs typeface="Heebo" pitchFamily="2" charset="-79"/>
              </a:rPr>
              <a:t>השוואה בין סוגי הפריסות</a:t>
            </a:r>
            <a:endParaRPr lang="he-IL" sz="4000" dirty="0">
              <a:latin typeface="Heebo" pitchFamily="2" charset="-79"/>
              <a:cs typeface="Heebo" pitchFamily="2" charset="-79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A6172-1E11-4058-AFEC-8BDE2164A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11007"/>
          </a:xfrm>
        </p:spPr>
        <p:txBody>
          <a:bodyPr>
            <a:noAutofit/>
          </a:bodyPr>
          <a:lstStyle/>
          <a:p>
            <a:pPr marL="0" indent="0" algn="r" rtl="1">
              <a:buNone/>
            </a:pPr>
            <a:r>
              <a:rPr lang="en-US" sz="2000" b="1" dirty="0">
                <a:latin typeface="Assistant" panose="020B0604020202020204" pitchFamily="2" charset="-79"/>
                <a:cs typeface="Assistant" panose="020B0604020202020204" pitchFamily="2" charset="-79"/>
              </a:rPr>
              <a:t>Tensor Parallelism</a:t>
            </a:r>
            <a:endParaRPr lang="en-US" sz="2000" dirty="0">
              <a:latin typeface="Assistant" panose="020B0604020202020204" pitchFamily="2" charset="-79"/>
              <a:cs typeface="Assistant" panose="020B0604020202020204" pitchFamily="2" charset="-79"/>
            </a:endParaRPr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1600" dirty="0">
                <a:latin typeface="Assistant" panose="020B0604020202020204" pitchFamily="2" charset="-79"/>
                <a:cs typeface="Assistant" panose="020B0604020202020204" pitchFamily="2" charset="-79"/>
              </a:rPr>
              <a:t>פותר בעיה של </a:t>
            </a:r>
            <a:r>
              <a:rPr lang="he-IL" sz="1600" b="1" dirty="0">
                <a:latin typeface="Assistant" panose="020B0604020202020204" pitchFamily="2" charset="-79"/>
                <a:cs typeface="Assistant" panose="020B0604020202020204" pitchFamily="2" charset="-79"/>
              </a:rPr>
              <a:t>מודל גדול מדי</a:t>
            </a:r>
            <a:r>
              <a:rPr lang="he-IL" sz="1600" dirty="0">
                <a:latin typeface="Assistant" panose="020B0604020202020204" pitchFamily="2" charset="-79"/>
                <a:cs typeface="Assistant" panose="020B0604020202020204" pitchFamily="2" charset="-79"/>
              </a:rPr>
              <a:t>. 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1600" dirty="0">
                <a:latin typeface="Assistant" panose="020B0604020202020204" pitchFamily="2" charset="-79"/>
                <a:cs typeface="Assistant" panose="020B0604020202020204" pitchFamily="2" charset="-79"/>
              </a:rPr>
              <a:t>פיצול חישובים על פני מספר </a:t>
            </a:r>
            <a:r>
              <a:rPr lang="en-US" sz="1600" dirty="0">
                <a:latin typeface="Assistant" panose="020B0604020202020204" pitchFamily="2" charset="-79"/>
                <a:cs typeface="Assistant" panose="020B0604020202020204" pitchFamily="2" charset="-79"/>
              </a:rPr>
              <a:t>GPUs</a:t>
            </a:r>
            <a:r>
              <a:rPr lang="he-IL" sz="1600" dirty="0">
                <a:latin typeface="Assistant" panose="020B0604020202020204" pitchFamily="2" charset="-79"/>
                <a:cs typeface="Assistant" panose="020B0604020202020204" pitchFamily="2" charset="-79"/>
              </a:rPr>
              <a:t>, במיוחד במודלים עם </a:t>
            </a:r>
            <a:r>
              <a:rPr lang="he-IL" sz="1600" b="1" dirty="0">
                <a:latin typeface="Assistant" panose="020B0604020202020204" pitchFamily="2" charset="-79"/>
                <a:cs typeface="Assistant" panose="020B0604020202020204" pitchFamily="2" charset="-79"/>
              </a:rPr>
              <a:t>חישובים כבדים</a:t>
            </a:r>
            <a:r>
              <a:rPr lang="he-IL" sz="1600" dirty="0">
                <a:latin typeface="Assistant" panose="020B0604020202020204" pitchFamily="2" charset="-79"/>
                <a:cs typeface="Assistant" panose="020B0604020202020204" pitchFamily="2" charset="-79"/>
              </a:rPr>
              <a:t> כגון מטריצות. </a:t>
            </a:r>
          </a:p>
          <a:p>
            <a:pPr marL="0" indent="0" algn="r">
              <a:buNone/>
            </a:pPr>
            <a:endParaRPr lang="he-IL" sz="1600" dirty="0">
              <a:latin typeface="Assistant" panose="020B0604020202020204" pitchFamily="2" charset="-79"/>
              <a:cs typeface="Assistant" panose="020B0604020202020204" pitchFamily="2" charset="-79"/>
            </a:endParaRPr>
          </a:p>
          <a:p>
            <a:pPr marL="0" indent="0" algn="r" rtl="1">
              <a:buNone/>
            </a:pPr>
            <a:r>
              <a:rPr lang="en-US" sz="2000" b="1" dirty="0">
                <a:latin typeface="Assistant" panose="020B0604020202020204" pitchFamily="2" charset="-79"/>
                <a:cs typeface="Assistant" panose="020B0604020202020204" pitchFamily="2" charset="-79"/>
              </a:rPr>
              <a:t>Data Parallelism</a:t>
            </a:r>
            <a:endParaRPr lang="en-US" sz="2000" dirty="0">
              <a:latin typeface="Assistant" panose="020B0604020202020204" pitchFamily="2" charset="-79"/>
              <a:cs typeface="Assistant" panose="020B0604020202020204" pitchFamily="2" charset="-79"/>
            </a:endParaRPr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1600" dirty="0">
                <a:latin typeface="Assistant" panose="020B0604020202020204" pitchFamily="2" charset="-79"/>
                <a:cs typeface="Assistant" panose="020B0604020202020204" pitchFamily="2" charset="-79"/>
              </a:rPr>
              <a:t>פותר בעיה של </a:t>
            </a:r>
            <a:r>
              <a:rPr lang="he-IL" sz="1600" b="1" dirty="0">
                <a:latin typeface="Assistant" panose="020B0604020202020204" pitchFamily="2" charset="-79"/>
                <a:cs typeface="Assistant" panose="020B0604020202020204" pitchFamily="2" charset="-79"/>
              </a:rPr>
              <a:t>כמות נתונים גדולה מדי</a:t>
            </a:r>
            <a:r>
              <a:rPr lang="he-IL" sz="1600" dirty="0">
                <a:latin typeface="Assistant" panose="020B0604020202020204" pitchFamily="2" charset="-79"/>
                <a:cs typeface="Assistant" panose="020B0604020202020204" pitchFamily="2" charset="-79"/>
              </a:rPr>
              <a:t>. 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1600" dirty="0">
                <a:latin typeface="Assistant" panose="020B0604020202020204" pitchFamily="2" charset="-79"/>
                <a:cs typeface="Assistant" panose="020B0604020202020204" pitchFamily="2" charset="-79"/>
              </a:rPr>
              <a:t>שכפול המודל על פני מספר</a:t>
            </a:r>
            <a:r>
              <a:rPr lang="en-US" sz="1600" dirty="0">
                <a:latin typeface="Assistant" panose="020B0604020202020204" pitchFamily="2" charset="-79"/>
                <a:cs typeface="Assistant" panose="020B0604020202020204" pitchFamily="2" charset="-79"/>
              </a:rPr>
              <a:t>GPUs </a:t>
            </a:r>
            <a:r>
              <a:rPr lang="he-IL" sz="1600" dirty="0">
                <a:latin typeface="Assistant" panose="020B0604020202020204" pitchFamily="2" charset="-79"/>
                <a:cs typeface="Assistant" panose="020B0604020202020204" pitchFamily="2" charset="-79"/>
              </a:rPr>
              <a:t>, כאשר כל </a:t>
            </a:r>
            <a:r>
              <a:rPr lang="en-US" sz="1600" dirty="0">
                <a:latin typeface="Assistant" panose="020B0604020202020204" pitchFamily="2" charset="-79"/>
                <a:cs typeface="Assistant" panose="020B0604020202020204" pitchFamily="2" charset="-79"/>
              </a:rPr>
              <a:t>GPU</a:t>
            </a:r>
            <a:r>
              <a:rPr lang="he-IL" sz="1600" dirty="0">
                <a:latin typeface="Assistant" panose="020B0604020202020204" pitchFamily="2" charset="-79"/>
                <a:cs typeface="Assistant" panose="020B0604020202020204" pitchFamily="2" charset="-79"/>
              </a:rPr>
              <a:t> מעבד חלק אחר מהנתונים בו-זמנית.</a:t>
            </a:r>
          </a:p>
          <a:p>
            <a:pPr marL="0" indent="0" algn="r">
              <a:buNone/>
            </a:pPr>
            <a:endParaRPr lang="en-US" sz="1600" dirty="0">
              <a:latin typeface="Assistant" panose="020B0604020202020204" pitchFamily="2" charset="-79"/>
              <a:cs typeface="Assistant" panose="020B0604020202020204" pitchFamily="2" charset="-79"/>
            </a:endParaRPr>
          </a:p>
          <a:p>
            <a:pPr marL="0" indent="0" algn="r" rtl="1">
              <a:buNone/>
            </a:pPr>
            <a:r>
              <a:rPr lang="en-US" sz="2000" b="1" dirty="0">
                <a:latin typeface="Assistant" panose="020B0604020202020204" pitchFamily="2" charset="-79"/>
                <a:cs typeface="Assistant" panose="020B0604020202020204" pitchFamily="2" charset="-79"/>
              </a:rPr>
              <a:t>Pipeline Parallelism</a:t>
            </a:r>
            <a:endParaRPr lang="en-US" sz="2000" dirty="0">
              <a:latin typeface="Assistant" panose="020B0604020202020204" pitchFamily="2" charset="-79"/>
              <a:cs typeface="Assistant" panose="020B0604020202020204" pitchFamily="2" charset="-79"/>
            </a:endParaRPr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1600" dirty="0">
                <a:latin typeface="Assistant" panose="020B0604020202020204" pitchFamily="2" charset="-79"/>
                <a:cs typeface="Assistant" panose="020B0604020202020204" pitchFamily="2" charset="-79"/>
              </a:rPr>
              <a:t>פותר בעיה של </a:t>
            </a:r>
            <a:r>
              <a:rPr lang="he-IL" sz="1600" b="1" dirty="0">
                <a:latin typeface="Assistant" panose="020B0604020202020204" pitchFamily="2" charset="-79"/>
                <a:cs typeface="Assistant" panose="020B0604020202020204" pitchFamily="2" charset="-79"/>
              </a:rPr>
              <a:t>מודלים עמוקים מאוד או חיבורי</a:t>
            </a:r>
            <a:r>
              <a:rPr lang="en-US" sz="1600" b="1" dirty="0">
                <a:latin typeface="Assistant" panose="020B0604020202020204" pitchFamily="2" charset="-79"/>
                <a:cs typeface="Assistant" panose="020B0604020202020204" pitchFamily="2" charset="-79"/>
              </a:rPr>
              <a:t>GPUs </a:t>
            </a:r>
            <a:r>
              <a:rPr lang="he-IL" sz="1600" b="1" dirty="0">
                <a:latin typeface="Assistant" panose="020B0604020202020204" pitchFamily="2" charset="-79"/>
                <a:cs typeface="Assistant" panose="020B0604020202020204" pitchFamily="2" charset="-79"/>
              </a:rPr>
              <a:t> איטיים</a:t>
            </a:r>
            <a:r>
              <a:rPr lang="he-IL" sz="1600" dirty="0">
                <a:latin typeface="Assistant" panose="020B0604020202020204" pitchFamily="2" charset="-79"/>
                <a:cs typeface="Assistant" panose="020B0604020202020204" pitchFamily="2" charset="-79"/>
              </a:rPr>
              <a:t>. 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1600" dirty="0">
                <a:latin typeface="Assistant" panose="020B0604020202020204" pitchFamily="2" charset="-79"/>
                <a:cs typeface="Assistant" panose="020B0604020202020204" pitchFamily="2" charset="-79"/>
              </a:rPr>
              <a:t>חלוקת המודל לשכבות, כך שכל</a:t>
            </a:r>
            <a:r>
              <a:rPr lang="en-US" sz="1600" dirty="0">
                <a:latin typeface="Assistant" panose="020B0604020202020204" pitchFamily="2" charset="-79"/>
                <a:cs typeface="Assistant" panose="020B0604020202020204" pitchFamily="2" charset="-79"/>
              </a:rPr>
              <a:t>GPU </a:t>
            </a:r>
            <a:r>
              <a:rPr lang="he-IL" sz="1600" dirty="0">
                <a:latin typeface="Assistant" panose="020B0604020202020204" pitchFamily="2" charset="-79"/>
                <a:cs typeface="Assistant" panose="020B0604020202020204" pitchFamily="2" charset="-79"/>
              </a:rPr>
              <a:t> מעבד חלק מהשכבות בסדר כרונולוגי, עם </a:t>
            </a:r>
            <a:r>
              <a:rPr lang="he-IL" sz="1600" b="1" dirty="0">
                <a:latin typeface="Assistant" panose="020B0604020202020204" pitchFamily="2" charset="-79"/>
                <a:cs typeface="Assistant" panose="020B0604020202020204" pitchFamily="2" charset="-79"/>
              </a:rPr>
              <a:t>פחות תקשורת</a:t>
            </a:r>
            <a:r>
              <a:rPr lang="he-IL" sz="1600" dirty="0">
                <a:latin typeface="Assistant" panose="020B0604020202020204" pitchFamily="2" charset="-79"/>
                <a:cs typeface="Assistant" panose="020B0604020202020204" pitchFamily="2" charset="-79"/>
              </a:rPr>
              <a:t> בין </a:t>
            </a:r>
            <a:r>
              <a:rPr lang="en-US" sz="1600" dirty="0">
                <a:latin typeface="Assistant" panose="020B0604020202020204" pitchFamily="2" charset="-79"/>
                <a:cs typeface="Assistant" panose="020B0604020202020204" pitchFamily="2" charset="-79"/>
              </a:rPr>
              <a:t>GPUs</a:t>
            </a:r>
            <a:r>
              <a:rPr lang="he-IL" sz="1600" dirty="0">
                <a:latin typeface="Assistant" panose="020B0604020202020204" pitchFamily="2" charset="-79"/>
                <a:cs typeface="Assistant" panose="020B0604020202020204" pitchFamily="2" charset="-79"/>
              </a:rPr>
              <a:t>.</a:t>
            </a:r>
            <a:endParaRPr lang="en-US" sz="1600" dirty="0">
              <a:latin typeface="Assistant" panose="020B0604020202020204" pitchFamily="2" charset="-79"/>
              <a:cs typeface="Assistant" panose="020B0604020202020204" pitchFamily="2" charset="-79"/>
            </a:endParaRPr>
          </a:p>
          <a:p>
            <a:pPr marL="0" indent="0" algn="r">
              <a:buNone/>
            </a:pPr>
            <a:endParaRPr lang="he-IL" sz="1600" dirty="0">
              <a:latin typeface="Assistant" panose="020B0604020202020204" pitchFamily="2" charset="-79"/>
              <a:cs typeface="Assistant" panose="020B0604020202020204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2515754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599</TotalTime>
  <Words>1401</Words>
  <Application>Microsoft Office PowerPoint</Application>
  <PresentationFormat>Widescreen</PresentationFormat>
  <Paragraphs>182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Assistant</vt:lpstr>
      <vt:lpstr>Calibri</vt:lpstr>
      <vt:lpstr>Calibri Light</vt:lpstr>
      <vt:lpstr>Heebo</vt:lpstr>
      <vt:lpstr>Office Theme</vt:lpstr>
      <vt:lpstr>BENCHMARKS</vt:lpstr>
      <vt:lpstr>ArenaHard</vt:lpstr>
      <vt:lpstr>AIME'24 &amp; AIME'25</vt:lpstr>
      <vt:lpstr>LiveCodeBench</vt:lpstr>
      <vt:lpstr>Aider</vt:lpstr>
      <vt:lpstr>BFCL</vt:lpstr>
      <vt:lpstr>LiveBench</vt:lpstr>
      <vt:lpstr>MMLU</vt:lpstr>
      <vt:lpstr>GPQA</vt:lpstr>
      <vt:lpstr>MultilF</vt:lpstr>
      <vt:lpstr>MMMU</vt:lpstr>
      <vt:lpstr>Tensor Parallelism</vt:lpstr>
      <vt:lpstr>Data Parallelism</vt:lpstr>
      <vt:lpstr>Pipeline Parallelism</vt:lpstr>
      <vt:lpstr>השוואה בין סוגי הפריסות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BENCHMARKS</dc:title>
  <dc:creator>c924704@CASA.NET</dc:creator>
  <cp:lastModifiedBy>c924704@CASA.NET</cp:lastModifiedBy>
  <cp:revision>46</cp:revision>
  <dcterms:created xsi:type="dcterms:W3CDTF">2026-04-12T13:34:32Z</dcterms:created>
  <dcterms:modified xsi:type="dcterms:W3CDTF">2026-04-13T16:08:35Z</dcterms:modified>
</cp:coreProperties>
</file>